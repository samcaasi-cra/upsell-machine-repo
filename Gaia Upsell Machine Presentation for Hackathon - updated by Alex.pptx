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6d1212c78_3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6d1212c78_3_7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6d1212c78_3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6d1212c78_3_8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6d1212c78_3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6d1212c78_3_11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f6d1212c78_3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f6d1212c78_3_1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6d1212c78_3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f6d1212c78_3_16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6d1212c78_3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f6d1212c78_3_19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1C153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0" y="4526280"/>
            <a:ext cx="9144015" cy="41148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617236" y="1748790"/>
            <a:ext cx="4252073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A86FF"/>
                </a:solidFill>
                <a:latin typeface="Calibri"/>
                <a:ea typeface="Calibri"/>
                <a:cs typeface="Calibri"/>
                <a:sym typeface="Calibri"/>
              </a:rPr>
              <a:t>PROJECT 5</a:t>
            </a:r>
            <a:endParaRPr sz="1100"/>
          </a:p>
        </p:txBody>
      </p:sp>
      <p:sp>
        <p:nvSpPr>
          <p:cNvPr id="133" name="Google Shape;133;p25"/>
          <p:cNvSpPr txBox="1"/>
          <p:nvPr/>
        </p:nvSpPr>
        <p:spPr>
          <a:xfrm>
            <a:off x="617236" y="2023110"/>
            <a:ext cx="7544001" cy="8915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Gaia ARR Growth Agent</a:t>
            </a:r>
            <a:endParaRPr sz="1100"/>
          </a:p>
        </p:txBody>
      </p:sp>
      <p:sp>
        <p:nvSpPr>
          <p:cNvPr id="134" name="Google Shape;134;p25"/>
          <p:cNvSpPr txBox="1"/>
          <p:nvPr/>
        </p:nvSpPr>
        <p:spPr>
          <a:xfrm>
            <a:off x="617236" y="2640330"/>
            <a:ext cx="7201092" cy="6172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EDE9FB"/>
                </a:solidFill>
                <a:latin typeface="Calibri"/>
                <a:ea typeface="Calibri"/>
                <a:cs typeface="Calibri"/>
                <a:sym typeface="Calibri"/>
              </a:rPr>
              <a:t>An AI agent that helps CSMs upsell existing customers — surfacing every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600" u="none" cap="none" strike="noStrike">
                <a:solidFill>
                  <a:srgbClr val="EDE9FB"/>
                </a:solidFill>
                <a:latin typeface="Calibri"/>
                <a:ea typeface="Calibri"/>
                <a:cs typeface="Calibri"/>
                <a:sym typeface="Calibri"/>
              </a:rPr>
              <a:t>signal across the portfolio, built on SecurityScorecard APIs.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617236" y="4629150"/>
            <a:ext cx="5486546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B3AECB"/>
                </a:solidFill>
                <a:latin typeface="Calibri"/>
                <a:ea typeface="Calibri"/>
                <a:cs typeface="Calibri"/>
                <a:sym typeface="Calibri"/>
              </a:rPr>
              <a:t>SecurityScorecard  ·  Customer Success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6"/>
          <p:cNvSpPr/>
          <p:nvPr/>
        </p:nvSpPr>
        <p:spPr>
          <a:xfrm>
            <a:off x="411491" y="377190"/>
            <a:ext cx="61724" cy="219456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6"/>
          <p:cNvSpPr txBox="1"/>
          <p:nvPr/>
        </p:nvSpPr>
        <p:spPr>
          <a:xfrm>
            <a:off x="562371" y="329184"/>
            <a:ext cx="411491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50" u="none" cap="none" strike="noStrike">
                <a:solidFill>
                  <a:srgbClr val="5422FF"/>
                </a:solidFill>
                <a:latin typeface="Calibri"/>
                <a:ea typeface="Calibri"/>
                <a:cs typeface="Calibri"/>
                <a:sym typeface="Calibri"/>
              </a:rPr>
              <a:t>THE OPPORTUNITY</a:t>
            </a:r>
            <a:endParaRPr sz="1100"/>
          </a:p>
        </p:txBody>
      </p:sp>
      <p:sp>
        <p:nvSpPr>
          <p:cNvPr id="143" name="Google Shape;143;p26"/>
          <p:cNvSpPr txBox="1"/>
          <p:nvPr/>
        </p:nvSpPr>
        <p:spPr>
          <a:xfrm>
            <a:off x="411491" y="617220"/>
            <a:ext cx="7886910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Upsell signals exist — but they're scattered</a:t>
            </a:r>
            <a:endParaRPr sz="1100"/>
          </a:p>
        </p:txBody>
      </p:sp>
      <p:sp>
        <p:nvSpPr>
          <p:cNvPr id="144" name="Google Shape;144;p26"/>
          <p:cNvSpPr txBox="1"/>
          <p:nvPr/>
        </p:nvSpPr>
        <p:spPr>
          <a:xfrm>
            <a:off x="411491" y="1062990"/>
            <a:ext cx="7681165" cy="34290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CSMs already have the data. It's just spread across too many places to act on consistently.</a:t>
            </a:r>
            <a:endParaRPr sz="1100"/>
          </a:p>
        </p:txBody>
      </p:sp>
      <p:sp>
        <p:nvSpPr>
          <p:cNvPr id="145" name="Google Shape;145;p26"/>
          <p:cNvSpPr/>
          <p:nvPr/>
        </p:nvSpPr>
        <p:spPr>
          <a:xfrm>
            <a:off x="411491" y="1611630"/>
            <a:ext cx="1906575" cy="243459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6"/>
          <p:cNvSpPr/>
          <p:nvPr/>
        </p:nvSpPr>
        <p:spPr>
          <a:xfrm>
            <a:off x="411491" y="1611630"/>
            <a:ext cx="1906575" cy="54864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6"/>
          <p:cNvSpPr txBox="1"/>
          <p:nvPr/>
        </p:nvSpPr>
        <p:spPr>
          <a:xfrm>
            <a:off x="562371" y="1817370"/>
            <a:ext cx="160481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Score improvements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562371" y="2263140"/>
            <a:ext cx="1604815" cy="16459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A customer's own posture gets better — proof the platform is working — but nobody flags it as an upsell moment.</a:t>
            </a:r>
            <a:endParaRPr sz="1100"/>
          </a:p>
        </p:txBody>
      </p:sp>
      <p:sp>
        <p:nvSpPr>
          <p:cNvPr id="149" name="Google Shape;149;p26"/>
          <p:cNvSpPr/>
          <p:nvPr/>
        </p:nvSpPr>
        <p:spPr>
          <a:xfrm>
            <a:off x="2510094" y="1611630"/>
            <a:ext cx="1906575" cy="243459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6"/>
          <p:cNvSpPr/>
          <p:nvPr/>
        </p:nvSpPr>
        <p:spPr>
          <a:xfrm>
            <a:off x="2510094" y="1611630"/>
            <a:ext cx="1906575" cy="54864"/>
          </a:xfrm>
          <a:prstGeom prst="rect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6"/>
          <p:cNvSpPr txBox="1"/>
          <p:nvPr/>
        </p:nvSpPr>
        <p:spPr>
          <a:xfrm>
            <a:off x="2660974" y="1817370"/>
            <a:ext cx="160481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Usage signals</a:t>
            </a:r>
            <a:endParaRPr sz="1100"/>
          </a:p>
        </p:txBody>
      </p:sp>
      <p:sp>
        <p:nvSpPr>
          <p:cNvPr id="152" name="Google Shape;152;p26"/>
          <p:cNvSpPr txBox="1"/>
          <p:nvPr/>
        </p:nvSpPr>
        <p:spPr>
          <a:xfrm>
            <a:off x="2660974" y="2263140"/>
            <a:ext cx="1604815" cy="16459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Accounts approaching plan limits are ready to grow, but that's buried in usage logs, not a CSM's inbox.</a:t>
            </a:r>
            <a:endParaRPr sz="1100"/>
          </a:p>
        </p:txBody>
      </p:sp>
      <p:sp>
        <p:nvSpPr>
          <p:cNvPr id="153" name="Google Shape;153;p26"/>
          <p:cNvSpPr/>
          <p:nvPr/>
        </p:nvSpPr>
        <p:spPr>
          <a:xfrm>
            <a:off x="4608698" y="1611630"/>
            <a:ext cx="1906575" cy="243459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6"/>
          <p:cNvSpPr/>
          <p:nvPr/>
        </p:nvSpPr>
        <p:spPr>
          <a:xfrm>
            <a:off x="4608698" y="1611630"/>
            <a:ext cx="1906575" cy="54864"/>
          </a:xfrm>
          <a:prstGeom prst="rect">
            <a:avLst/>
          </a:prstGeom>
          <a:solidFill>
            <a:srgbClr val="D98E2B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6"/>
          <p:cNvSpPr txBox="1"/>
          <p:nvPr/>
        </p:nvSpPr>
        <p:spPr>
          <a:xfrm>
            <a:off x="4759578" y="1817370"/>
            <a:ext cx="160481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Supplier &amp; sector risk</a:t>
            </a:r>
            <a:endParaRPr sz="1100"/>
          </a:p>
        </p:txBody>
      </p:sp>
      <p:sp>
        <p:nvSpPr>
          <p:cNvPr id="156" name="Google Shape;156;p26"/>
          <p:cNvSpPr txBox="1"/>
          <p:nvPr/>
        </p:nvSpPr>
        <p:spPr>
          <a:xfrm>
            <a:off x="4759578" y="2263140"/>
            <a:ext cx="1604815" cy="16459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Third-party risk shows up outside the customer's own score, and rarely reaches the CSM who owns the account.</a:t>
            </a:r>
            <a:endParaRPr sz="1100"/>
          </a:p>
        </p:txBody>
      </p:sp>
      <p:sp>
        <p:nvSpPr>
          <p:cNvPr id="157" name="Google Shape;157;p26"/>
          <p:cNvSpPr/>
          <p:nvPr/>
        </p:nvSpPr>
        <p:spPr>
          <a:xfrm>
            <a:off x="6707303" y="1611630"/>
            <a:ext cx="1906575" cy="243459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6707303" y="1611630"/>
            <a:ext cx="1906575" cy="54864"/>
          </a:xfrm>
          <a:prstGeom prst="rect">
            <a:avLst/>
          </a:prstGeom>
          <a:solidFill>
            <a:srgbClr val="5D5A72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 txBox="1"/>
          <p:nvPr/>
        </p:nvSpPr>
        <p:spPr>
          <a:xfrm>
            <a:off x="6858183" y="1817370"/>
            <a:ext cx="160481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Company news</a:t>
            </a:r>
            <a:endParaRPr sz="1100"/>
          </a:p>
        </p:txBody>
      </p:sp>
      <p:sp>
        <p:nvSpPr>
          <p:cNvPr id="160" name="Google Shape;160;p26"/>
          <p:cNvSpPr txBox="1"/>
          <p:nvPr/>
        </p:nvSpPr>
        <p:spPr>
          <a:xfrm>
            <a:off x="6858183" y="2263140"/>
            <a:ext cx="1604815" cy="16459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Funding, leadership changes, and other timely moments come and go before anyone reaches out.</a:t>
            </a:r>
            <a:endParaRPr sz="1100"/>
          </a:p>
        </p:txBody>
      </p:sp>
      <p:sp>
        <p:nvSpPr>
          <p:cNvPr id="161" name="Google Shape;161;p26"/>
          <p:cNvSpPr txBox="1"/>
          <p:nvPr/>
        </p:nvSpPr>
        <p:spPr>
          <a:xfrm>
            <a:off x="411491" y="4855464"/>
            <a:ext cx="4114910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Gaia ARR Growth Agent</a:t>
            </a:r>
            <a:endParaRPr sz="1100"/>
          </a:p>
        </p:txBody>
      </p:sp>
      <p:sp>
        <p:nvSpPr>
          <p:cNvPr id="162" name="Google Shape;162;p26"/>
          <p:cNvSpPr txBox="1"/>
          <p:nvPr/>
        </p:nvSpPr>
        <p:spPr>
          <a:xfrm>
            <a:off x="8229819" y="4855464"/>
            <a:ext cx="480073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7"/>
          <p:cNvSpPr/>
          <p:nvPr/>
        </p:nvSpPr>
        <p:spPr>
          <a:xfrm>
            <a:off x="411491" y="377190"/>
            <a:ext cx="61724" cy="219456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7"/>
          <p:cNvSpPr txBox="1"/>
          <p:nvPr/>
        </p:nvSpPr>
        <p:spPr>
          <a:xfrm>
            <a:off x="562371" y="329184"/>
            <a:ext cx="411491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50" u="none" cap="none" strike="noStrike">
                <a:solidFill>
                  <a:srgbClr val="5422FF"/>
                </a:solidFill>
                <a:latin typeface="Calibri"/>
                <a:ea typeface="Calibri"/>
                <a:cs typeface="Calibri"/>
                <a:sym typeface="Calibri"/>
              </a:rPr>
              <a:t>THE PRODUCT</a:t>
            </a:r>
            <a:endParaRPr sz="1100"/>
          </a:p>
        </p:txBody>
      </p:sp>
      <p:sp>
        <p:nvSpPr>
          <p:cNvPr id="170" name="Google Shape;170;p27"/>
          <p:cNvSpPr txBox="1"/>
          <p:nvPr/>
        </p:nvSpPr>
        <p:spPr>
          <a:xfrm>
            <a:off x="411491" y="617220"/>
            <a:ext cx="7886910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One board: every signal, four lanes</a:t>
            </a:r>
            <a:endParaRPr sz="1100"/>
          </a:p>
        </p:txBody>
      </p:sp>
      <p:sp>
        <p:nvSpPr>
          <p:cNvPr id="171" name="Google Shape;171;p27"/>
          <p:cNvSpPr txBox="1"/>
          <p:nvPr/>
        </p:nvSpPr>
        <p:spPr>
          <a:xfrm>
            <a:off x="411491" y="1062990"/>
            <a:ext cx="7818328" cy="34290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The Opportunities board is the landing screen — the single place CSMs work the whole portfolio.</a:t>
            </a:r>
            <a:endParaRPr sz="1100"/>
          </a:p>
        </p:txBody>
      </p:sp>
      <p:sp>
        <p:nvSpPr>
          <p:cNvPr id="172" name="Google Shape;172;p27"/>
          <p:cNvSpPr/>
          <p:nvPr/>
        </p:nvSpPr>
        <p:spPr>
          <a:xfrm>
            <a:off x="411491" y="1611630"/>
            <a:ext cx="7955492" cy="651510"/>
          </a:xfrm>
          <a:prstGeom prst="roundRect">
            <a:avLst>
              <a:gd fmla="val 12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7"/>
          <p:cNvSpPr/>
          <p:nvPr/>
        </p:nvSpPr>
        <p:spPr>
          <a:xfrm>
            <a:off x="411491" y="1611630"/>
            <a:ext cx="82298" cy="651510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651527" y="1700784"/>
            <a:ext cx="205745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Own Cyber Posture</a:t>
            </a:r>
            <a:endParaRPr sz="1100"/>
          </a:p>
        </p:txBody>
      </p:sp>
      <p:sp>
        <p:nvSpPr>
          <p:cNvPr id="175" name="Google Shape;175;p27"/>
          <p:cNvSpPr txBox="1"/>
          <p:nvPr/>
        </p:nvSpPr>
        <p:spPr>
          <a:xfrm>
            <a:off x="2811854" y="1700784"/>
            <a:ext cx="5417964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Evidence the customer's own security is already paying off</a:t>
            </a:r>
            <a:endParaRPr sz="1100"/>
          </a:p>
        </p:txBody>
      </p:sp>
      <p:sp>
        <p:nvSpPr>
          <p:cNvPr id="176" name="Google Shape;176;p27"/>
          <p:cNvSpPr/>
          <p:nvPr/>
        </p:nvSpPr>
        <p:spPr>
          <a:xfrm>
            <a:off x="411491" y="2386584"/>
            <a:ext cx="7955492" cy="651510"/>
          </a:xfrm>
          <a:prstGeom prst="roundRect">
            <a:avLst>
              <a:gd fmla="val 12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/>
          <p:nvPr/>
        </p:nvSpPr>
        <p:spPr>
          <a:xfrm>
            <a:off x="411491" y="2386584"/>
            <a:ext cx="82298" cy="651510"/>
          </a:xfrm>
          <a:prstGeom prst="rect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7"/>
          <p:cNvSpPr txBox="1"/>
          <p:nvPr/>
        </p:nvSpPr>
        <p:spPr>
          <a:xfrm>
            <a:off x="651527" y="2475738"/>
            <a:ext cx="205745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Usage</a:t>
            </a:r>
            <a:endParaRPr sz="1100"/>
          </a:p>
        </p:txBody>
      </p:sp>
      <p:sp>
        <p:nvSpPr>
          <p:cNvPr id="179" name="Google Shape;179;p27"/>
          <p:cNvSpPr txBox="1"/>
          <p:nvPr/>
        </p:nvSpPr>
        <p:spPr>
          <a:xfrm>
            <a:off x="2811854" y="2475738"/>
            <a:ext cx="5417964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Platform usage telling you the account is ready for more</a:t>
            </a:r>
            <a:endParaRPr sz="1100"/>
          </a:p>
        </p:txBody>
      </p:sp>
      <p:sp>
        <p:nvSpPr>
          <p:cNvPr id="180" name="Google Shape;180;p27"/>
          <p:cNvSpPr/>
          <p:nvPr/>
        </p:nvSpPr>
        <p:spPr>
          <a:xfrm>
            <a:off x="411491" y="3161538"/>
            <a:ext cx="7955492" cy="651510"/>
          </a:xfrm>
          <a:prstGeom prst="roundRect">
            <a:avLst>
              <a:gd fmla="val 12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411491" y="3161538"/>
            <a:ext cx="82298" cy="651510"/>
          </a:xfrm>
          <a:prstGeom prst="rect">
            <a:avLst/>
          </a:prstGeom>
          <a:solidFill>
            <a:srgbClr val="D98E2B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7"/>
          <p:cNvSpPr txBox="1"/>
          <p:nvPr/>
        </p:nvSpPr>
        <p:spPr>
          <a:xfrm>
            <a:off x="651527" y="3250692"/>
            <a:ext cx="205745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Suppliers</a:t>
            </a:r>
            <a:endParaRPr sz="1100"/>
          </a:p>
        </p:txBody>
      </p:sp>
      <p:sp>
        <p:nvSpPr>
          <p:cNvPr id="183" name="Google Shape;183;p27"/>
          <p:cNvSpPr txBox="1"/>
          <p:nvPr/>
        </p:nvSpPr>
        <p:spPr>
          <a:xfrm>
            <a:off x="2811854" y="3250692"/>
            <a:ext cx="5417964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Third-party and sector risk detected outside the customer's own score</a:t>
            </a:r>
            <a:endParaRPr sz="1100"/>
          </a:p>
        </p:txBody>
      </p:sp>
      <p:sp>
        <p:nvSpPr>
          <p:cNvPr id="184" name="Google Shape;184;p27"/>
          <p:cNvSpPr/>
          <p:nvPr/>
        </p:nvSpPr>
        <p:spPr>
          <a:xfrm>
            <a:off x="411491" y="3936492"/>
            <a:ext cx="7955492" cy="651510"/>
          </a:xfrm>
          <a:prstGeom prst="roundRect">
            <a:avLst>
              <a:gd fmla="val 12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411491" y="3936492"/>
            <a:ext cx="82298" cy="651510"/>
          </a:xfrm>
          <a:prstGeom prst="rect">
            <a:avLst/>
          </a:prstGeom>
          <a:solidFill>
            <a:srgbClr val="5D5A72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7"/>
          <p:cNvSpPr txBox="1"/>
          <p:nvPr/>
        </p:nvSpPr>
        <p:spPr>
          <a:xfrm>
            <a:off x="651527" y="4025646"/>
            <a:ext cx="2057455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News</a:t>
            </a:r>
            <a:endParaRPr sz="1100"/>
          </a:p>
        </p:txBody>
      </p:sp>
      <p:sp>
        <p:nvSpPr>
          <p:cNvPr id="187" name="Google Shape;187;p27"/>
          <p:cNvSpPr txBox="1"/>
          <p:nvPr/>
        </p:nvSpPr>
        <p:spPr>
          <a:xfrm>
            <a:off x="2811854" y="4025646"/>
            <a:ext cx="5417964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Company news and people moments worth a direct, timely touch</a:t>
            </a:r>
            <a:endParaRPr sz="1100"/>
          </a:p>
        </p:txBody>
      </p:sp>
      <p:sp>
        <p:nvSpPr>
          <p:cNvPr id="188" name="Google Shape;188;p27"/>
          <p:cNvSpPr txBox="1"/>
          <p:nvPr/>
        </p:nvSpPr>
        <p:spPr>
          <a:xfrm>
            <a:off x="411491" y="4855464"/>
            <a:ext cx="4114910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Gaia ARR Growth Agent</a:t>
            </a:r>
            <a:endParaRPr sz="1100"/>
          </a:p>
        </p:txBody>
      </p:sp>
      <p:sp>
        <p:nvSpPr>
          <p:cNvPr id="189" name="Google Shape;189;p27"/>
          <p:cNvSpPr txBox="1"/>
          <p:nvPr/>
        </p:nvSpPr>
        <p:spPr>
          <a:xfrm>
            <a:off x="8229819" y="4855464"/>
            <a:ext cx="480073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8"/>
          <p:cNvSpPr/>
          <p:nvPr/>
        </p:nvSpPr>
        <p:spPr>
          <a:xfrm>
            <a:off x="411491" y="377190"/>
            <a:ext cx="61724" cy="219456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8"/>
          <p:cNvSpPr txBox="1"/>
          <p:nvPr/>
        </p:nvSpPr>
        <p:spPr>
          <a:xfrm>
            <a:off x="562371" y="329184"/>
            <a:ext cx="411491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50" u="none" cap="none" strike="noStrike">
                <a:solidFill>
                  <a:srgbClr val="5422FF"/>
                </a:solidFill>
                <a:latin typeface="Calibri"/>
                <a:ea typeface="Calibri"/>
                <a:cs typeface="Calibri"/>
                <a:sym typeface="Calibri"/>
              </a:rPr>
              <a:t>THE EXPERIENCE</a:t>
            </a:r>
            <a:endParaRPr sz="1100"/>
          </a:p>
        </p:txBody>
      </p:sp>
      <p:sp>
        <p:nvSpPr>
          <p:cNvPr id="197" name="Google Shape;197;p28"/>
          <p:cNvSpPr txBox="1"/>
          <p:nvPr/>
        </p:nvSpPr>
        <p:spPr>
          <a:xfrm>
            <a:off x="411491" y="617220"/>
            <a:ext cx="7886910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Designed for a five-second scan, not a report</a:t>
            </a:r>
            <a:endParaRPr sz="1100"/>
          </a:p>
        </p:txBody>
      </p:sp>
      <p:sp>
        <p:nvSpPr>
          <p:cNvPr id="198" name="Google Shape;198;p28"/>
          <p:cNvSpPr/>
          <p:nvPr/>
        </p:nvSpPr>
        <p:spPr>
          <a:xfrm>
            <a:off x="411491" y="1303020"/>
            <a:ext cx="3154764" cy="2057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4E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8"/>
          <p:cNvSpPr/>
          <p:nvPr/>
        </p:nvSpPr>
        <p:spPr>
          <a:xfrm>
            <a:off x="411491" y="1303020"/>
            <a:ext cx="68582" cy="2057400"/>
          </a:xfrm>
          <a:prstGeom prst="rect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8"/>
          <p:cNvSpPr txBox="1"/>
          <p:nvPr/>
        </p:nvSpPr>
        <p:spPr>
          <a:xfrm>
            <a:off x="617236" y="1474470"/>
            <a:ext cx="2674691" cy="24003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58A5E"/>
                </a:solidFill>
                <a:latin typeface="Calibri"/>
                <a:ea typeface="Calibri"/>
                <a:cs typeface="Calibri"/>
                <a:sym typeface="Calibri"/>
              </a:rPr>
              <a:t>USAGE</a:t>
            </a:r>
            <a:endParaRPr sz="1100"/>
          </a:p>
        </p:txBody>
      </p:sp>
      <p:sp>
        <p:nvSpPr>
          <p:cNvPr id="201" name="Google Shape;201;p28"/>
          <p:cNvSpPr txBox="1"/>
          <p:nvPr/>
        </p:nvSpPr>
        <p:spPr>
          <a:xfrm>
            <a:off x="617236" y="1714500"/>
            <a:ext cx="2674691" cy="5486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Flag rising slot usage before it hits the licensed cap.</a:t>
            </a:r>
            <a:endParaRPr sz="1100"/>
          </a:p>
        </p:txBody>
      </p:sp>
      <p:sp>
        <p:nvSpPr>
          <p:cNvPr id="202" name="Google Shape;202;p28"/>
          <p:cNvSpPr txBox="1"/>
          <p:nvPr/>
        </p:nvSpPr>
        <p:spPr>
          <a:xfrm>
            <a:off x="617236" y="2366010"/>
            <a:ext cx="240036" cy="24003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5422FF"/>
                </a:solidFill>
                <a:latin typeface="Calibri"/>
                <a:ea typeface="Calibri"/>
                <a:cs typeface="Calibri"/>
                <a:sym typeface="Calibri"/>
              </a:rPr>
              <a:t>ⓘ</a:t>
            </a:r>
            <a:endParaRPr sz="1100"/>
          </a:p>
        </p:txBody>
      </p:sp>
      <p:sp>
        <p:nvSpPr>
          <p:cNvPr id="203" name="Google Shape;203;p28"/>
          <p:cNvSpPr txBox="1"/>
          <p:nvPr/>
        </p:nvSpPr>
        <p:spPr>
          <a:xfrm>
            <a:off x="891564" y="2366010"/>
            <a:ext cx="2331782" cy="24003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click for the fuller explanation</a:t>
            </a:r>
            <a:endParaRPr sz="1100"/>
          </a:p>
        </p:txBody>
      </p:sp>
      <p:sp>
        <p:nvSpPr>
          <p:cNvPr id="204" name="Google Shape;204;p28"/>
          <p:cNvSpPr/>
          <p:nvPr/>
        </p:nvSpPr>
        <p:spPr>
          <a:xfrm>
            <a:off x="617236" y="2846070"/>
            <a:ext cx="1165891" cy="342900"/>
          </a:xfrm>
          <a:prstGeom prst="roundRect">
            <a:avLst>
              <a:gd fmla="val 30000" name="adj"/>
            </a:avLst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8"/>
          <p:cNvSpPr txBox="1"/>
          <p:nvPr/>
        </p:nvSpPr>
        <p:spPr>
          <a:xfrm>
            <a:off x="617236" y="2846070"/>
            <a:ext cx="1165891" cy="342900"/>
          </a:xfrm>
          <a:prstGeom prst="rect">
            <a:avLst/>
          </a:prstGeom>
          <a:noFill/>
          <a:ln>
            <a:solid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Draft email</a:t>
            </a:r>
            <a:endParaRPr sz="1100"/>
          </a:p>
        </p:txBody>
      </p:sp>
      <p:sp>
        <p:nvSpPr>
          <p:cNvPr id="206" name="Google Shape;206;p28"/>
          <p:cNvSpPr/>
          <p:nvPr/>
        </p:nvSpPr>
        <p:spPr>
          <a:xfrm>
            <a:off x="3806291" y="1392174"/>
            <a:ext cx="68582" cy="68580"/>
          </a:xfrm>
          <a:prstGeom prst="ellipse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8"/>
          <p:cNvSpPr txBox="1"/>
          <p:nvPr/>
        </p:nvSpPr>
        <p:spPr>
          <a:xfrm>
            <a:off x="3977746" y="1337310"/>
            <a:ext cx="47321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Active-voice instruction leads every card — the ask, not the raw data.</a:t>
            </a:r>
            <a:endParaRPr sz="1100"/>
          </a:p>
        </p:txBody>
      </p:sp>
      <p:sp>
        <p:nvSpPr>
          <p:cNvPr id="208" name="Google Shape;208;p28"/>
          <p:cNvSpPr/>
          <p:nvPr/>
        </p:nvSpPr>
        <p:spPr>
          <a:xfrm>
            <a:off x="3806291" y="1817370"/>
            <a:ext cx="68582" cy="68580"/>
          </a:xfrm>
          <a:prstGeom prst="ellipse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8"/>
          <p:cNvSpPr txBox="1"/>
          <p:nvPr/>
        </p:nvSpPr>
        <p:spPr>
          <a:xfrm>
            <a:off x="3977746" y="1762506"/>
            <a:ext cx="47321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Default / Detailed / Compact views trade off density; text-size control persists across reloads.</a:t>
            </a:r>
            <a:endParaRPr sz="1100"/>
          </a:p>
        </p:txBody>
      </p:sp>
      <p:sp>
        <p:nvSpPr>
          <p:cNvPr id="210" name="Google Shape;210;p28"/>
          <p:cNvSpPr/>
          <p:nvPr/>
        </p:nvSpPr>
        <p:spPr>
          <a:xfrm>
            <a:off x="3806291" y="2242566"/>
            <a:ext cx="68582" cy="68580"/>
          </a:xfrm>
          <a:prstGeom prst="ellipse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8"/>
          <p:cNvSpPr txBox="1"/>
          <p:nvPr/>
        </p:nvSpPr>
        <p:spPr>
          <a:xfrm>
            <a:off x="3977746" y="2187702"/>
            <a:ext cx="47321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Search + multi-select narrows the whole board to specific accounts, with customer logos.</a:t>
            </a:r>
            <a:endParaRPr sz="1100"/>
          </a:p>
        </p:txBody>
      </p:sp>
      <p:sp>
        <p:nvSpPr>
          <p:cNvPr id="212" name="Google Shape;212;p28"/>
          <p:cNvSpPr/>
          <p:nvPr/>
        </p:nvSpPr>
        <p:spPr>
          <a:xfrm>
            <a:off x="3806291" y="2667762"/>
            <a:ext cx="68582" cy="68580"/>
          </a:xfrm>
          <a:prstGeom prst="ellipse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8"/>
          <p:cNvSpPr txBox="1"/>
          <p:nvPr/>
        </p:nvSpPr>
        <p:spPr>
          <a:xfrm>
            <a:off x="3977746" y="2612898"/>
            <a:ext cx="47321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One click opens an editable, pre-drafted email with a recipient dropdown — News cards link the source article.</a:t>
            </a:r>
            <a:endParaRPr sz="1100"/>
          </a:p>
        </p:txBody>
      </p:sp>
      <p:sp>
        <p:nvSpPr>
          <p:cNvPr id="214" name="Google Shape;214;p28"/>
          <p:cNvSpPr/>
          <p:nvPr/>
        </p:nvSpPr>
        <p:spPr>
          <a:xfrm>
            <a:off x="3806291" y="3092958"/>
            <a:ext cx="68582" cy="68580"/>
          </a:xfrm>
          <a:prstGeom prst="ellipse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8"/>
          <p:cNvSpPr txBox="1"/>
          <p:nvPr/>
        </p:nvSpPr>
        <p:spPr>
          <a:xfrm>
            <a:off x="3977746" y="3038094"/>
            <a:ext cx="47321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Provenance icons show where each signal came from; unbuilt triggers can show as labeled concept cards.</a:t>
            </a:r>
            <a:endParaRPr sz="1100"/>
          </a:p>
        </p:txBody>
      </p:sp>
      <p:sp>
        <p:nvSpPr>
          <p:cNvPr id="216" name="Google Shape;216;p28"/>
          <p:cNvSpPr txBox="1"/>
          <p:nvPr/>
        </p:nvSpPr>
        <p:spPr>
          <a:xfrm>
            <a:off x="411491" y="4855464"/>
            <a:ext cx="4114910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Gaia ARR Growth Agent</a:t>
            </a:r>
            <a:endParaRPr sz="1100"/>
          </a:p>
        </p:txBody>
      </p:sp>
      <p:sp>
        <p:nvSpPr>
          <p:cNvPr id="217" name="Google Shape;217;p28"/>
          <p:cNvSpPr txBox="1"/>
          <p:nvPr/>
        </p:nvSpPr>
        <p:spPr>
          <a:xfrm>
            <a:off x="8229819" y="4855464"/>
            <a:ext cx="480073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9"/>
          <p:cNvSpPr/>
          <p:nvPr/>
        </p:nvSpPr>
        <p:spPr>
          <a:xfrm>
            <a:off x="411491" y="377190"/>
            <a:ext cx="61724" cy="219456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9"/>
          <p:cNvSpPr txBox="1"/>
          <p:nvPr/>
        </p:nvSpPr>
        <p:spPr>
          <a:xfrm>
            <a:off x="562371" y="329184"/>
            <a:ext cx="411491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50" u="none" cap="none" strike="noStrike">
                <a:solidFill>
                  <a:srgbClr val="5422FF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  <a:endParaRPr sz="1100"/>
          </a:p>
        </p:txBody>
      </p:sp>
      <p:sp>
        <p:nvSpPr>
          <p:cNvPr id="225" name="Google Shape;225;p29"/>
          <p:cNvSpPr txBox="1"/>
          <p:nvPr/>
        </p:nvSpPr>
        <p:spPr>
          <a:xfrm>
            <a:off x="411491" y="617220"/>
            <a:ext cx="7886910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Unattended research, reachable however a CSM works</a:t>
            </a:r>
            <a:endParaRPr sz="1100"/>
          </a:p>
        </p:txBody>
      </p:sp>
      <p:sp>
        <p:nvSpPr>
          <p:cNvPr id="226" name="Google Shape;226;p29"/>
          <p:cNvSpPr/>
          <p:nvPr/>
        </p:nvSpPr>
        <p:spPr>
          <a:xfrm>
            <a:off x="411491" y="1611630"/>
            <a:ext cx="3874873" cy="133731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9"/>
          <p:cNvSpPr/>
          <p:nvPr/>
        </p:nvSpPr>
        <p:spPr>
          <a:xfrm>
            <a:off x="411491" y="1611630"/>
            <a:ext cx="54865" cy="1337310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9"/>
          <p:cNvSpPr txBox="1"/>
          <p:nvPr/>
        </p:nvSpPr>
        <p:spPr>
          <a:xfrm>
            <a:off x="617236" y="1762506"/>
            <a:ext cx="3463382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Daily research</a:t>
            </a:r>
            <a:endParaRPr sz="1100"/>
          </a:p>
        </p:txBody>
      </p:sp>
      <p:sp>
        <p:nvSpPr>
          <p:cNvPr id="229" name="Google Shape;229;p29"/>
          <p:cNvSpPr txBox="1"/>
          <p:nvPr/>
        </p:nvSpPr>
        <p:spPr>
          <a:xfrm>
            <a:off x="617236" y="2105406"/>
            <a:ext cx="3463382" cy="75438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Runs unattended once a day: searches the news for every account and extracts structured events into the board.</a:t>
            </a:r>
            <a:endParaRPr sz="1100"/>
          </a:p>
        </p:txBody>
      </p:sp>
      <p:sp>
        <p:nvSpPr>
          <p:cNvPr id="230" name="Google Shape;230;p29"/>
          <p:cNvSpPr/>
          <p:nvPr/>
        </p:nvSpPr>
        <p:spPr>
          <a:xfrm>
            <a:off x="4492110" y="1611630"/>
            <a:ext cx="3874873" cy="133731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4492110" y="1611630"/>
            <a:ext cx="54865" cy="1337310"/>
          </a:xfrm>
          <a:prstGeom prst="rect">
            <a:avLst/>
          </a:prstGeom>
          <a:solidFill>
            <a:srgbClr val="342378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9"/>
          <p:cNvSpPr txBox="1"/>
          <p:nvPr/>
        </p:nvSpPr>
        <p:spPr>
          <a:xfrm>
            <a:off x="4697855" y="1762506"/>
            <a:ext cx="3463382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SecurityScorecard APIs</a:t>
            </a:r>
            <a:endParaRPr sz="1100"/>
          </a:p>
        </p:txBody>
      </p:sp>
      <p:sp>
        <p:nvSpPr>
          <p:cNvPr id="233" name="Google Shape;233;p29"/>
          <p:cNvSpPr txBox="1"/>
          <p:nvPr/>
        </p:nvSpPr>
        <p:spPr>
          <a:xfrm>
            <a:off x="4697855" y="2105406"/>
            <a:ext cx="3463382" cy="75438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Own-score, usage, and supplier/sector risk all come straight from the platform the team already trusts.</a:t>
            </a:r>
            <a:endParaRPr sz="1100"/>
          </a:p>
        </p:txBody>
      </p:sp>
      <p:sp>
        <p:nvSpPr>
          <p:cNvPr id="234" name="Google Shape;234;p29"/>
          <p:cNvSpPr/>
          <p:nvPr/>
        </p:nvSpPr>
        <p:spPr>
          <a:xfrm>
            <a:off x="411491" y="3154680"/>
            <a:ext cx="3874873" cy="133731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9"/>
          <p:cNvSpPr/>
          <p:nvPr/>
        </p:nvSpPr>
        <p:spPr>
          <a:xfrm>
            <a:off x="411491" y="3154680"/>
            <a:ext cx="54865" cy="1337310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9"/>
          <p:cNvSpPr txBox="1"/>
          <p:nvPr/>
        </p:nvSpPr>
        <p:spPr>
          <a:xfrm>
            <a:off x="617236" y="3305556"/>
            <a:ext cx="3463382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Tool-calling agent</a:t>
            </a:r>
            <a:endParaRPr sz="1100"/>
          </a:p>
        </p:txBody>
      </p:sp>
      <p:sp>
        <p:nvSpPr>
          <p:cNvPr id="237" name="Google Shape;237;p29"/>
          <p:cNvSpPr txBox="1"/>
          <p:nvPr/>
        </p:nvSpPr>
        <p:spPr>
          <a:xfrm>
            <a:off x="617236" y="3648456"/>
            <a:ext cx="3463382" cy="75438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Answers plain-English portfolio questions and drafts a ranked daily worklist with emails, via API or chat.</a:t>
            </a:r>
            <a:endParaRPr sz="1100"/>
          </a:p>
        </p:txBody>
      </p:sp>
      <p:sp>
        <p:nvSpPr>
          <p:cNvPr id="238" name="Google Shape;238;p29"/>
          <p:cNvSpPr/>
          <p:nvPr/>
        </p:nvSpPr>
        <p:spPr>
          <a:xfrm>
            <a:off x="4492110" y="3154680"/>
            <a:ext cx="3874873" cy="1337310"/>
          </a:xfrm>
          <a:prstGeom prst="roundRect">
            <a:avLst>
              <a:gd fmla="val 6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9"/>
          <p:cNvSpPr/>
          <p:nvPr/>
        </p:nvSpPr>
        <p:spPr>
          <a:xfrm>
            <a:off x="4492110" y="3154680"/>
            <a:ext cx="54865" cy="1337310"/>
          </a:xfrm>
          <a:prstGeom prst="rect">
            <a:avLst/>
          </a:prstGeom>
          <a:solidFill>
            <a:srgbClr val="342378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9"/>
          <p:cNvSpPr txBox="1"/>
          <p:nvPr/>
        </p:nvSpPr>
        <p:spPr>
          <a:xfrm>
            <a:off x="4697855" y="3305556"/>
            <a:ext cx="3463382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MCP server</a:t>
            </a:r>
            <a:endParaRPr sz="1100"/>
          </a:p>
        </p:txBody>
      </p:sp>
      <p:sp>
        <p:nvSpPr>
          <p:cNvPr id="241" name="Google Shape;241;p29"/>
          <p:cNvSpPr txBox="1"/>
          <p:nvPr/>
        </p:nvSpPr>
        <p:spPr>
          <a:xfrm>
            <a:off x="4697855" y="3648456"/>
            <a:ext cx="3463382" cy="75438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Exposes the same portfolio tools to any MCP client (e.g. Claude Desktop) — a CSM can work the portfolio with no UI at all.</a:t>
            </a:r>
            <a:endParaRPr sz="1100"/>
          </a:p>
        </p:txBody>
      </p:sp>
      <p:sp>
        <p:nvSpPr>
          <p:cNvPr id="242" name="Google Shape;242;p29"/>
          <p:cNvSpPr txBox="1"/>
          <p:nvPr/>
        </p:nvSpPr>
        <p:spPr>
          <a:xfrm>
            <a:off x="411491" y="4855464"/>
            <a:ext cx="4114910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Gaia ARR Growth Agent</a:t>
            </a:r>
            <a:endParaRPr sz="1100"/>
          </a:p>
        </p:txBody>
      </p:sp>
      <p:sp>
        <p:nvSpPr>
          <p:cNvPr id="243" name="Google Shape;243;p29"/>
          <p:cNvSpPr txBox="1"/>
          <p:nvPr/>
        </p:nvSpPr>
        <p:spPr>
          <a:xfrm>
            <a:off x="8229819" y="4855464"/>
            <a:ext cx="480073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0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0"/>
          <p:cNvSpPr/>
          <p:nvPr/>
        </p:nvSpPr>
        <p:spPr>
          <a:xfrm>
            <a:off x="411491" y="377190"/>
            <a:ext cx="61724" cy="219456"/>
          </a:xfrm>
          <a:prstGeom prst="rect">
            <a:avLst/>
          </a:prstGeom>
          <a:solidFill>
            <a:srgbClr val="5422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0"/>
          <p:cNvSpPr txBox="1"/>
          <p:nvPr/>
        </p:nvSpPr>
        <p:spPr>
          <a:xfrm>
            <a:off x="562371" y="329184"/>
            <a:ext cx="411491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50" u="none" cap="none" strike="noStrike">
                <a:solidFill>
                  <a:srgbClr val="5422FF"/>
                </a:solidFill>
                <a:latin typeface="Calibri"/>
                <a:ea typeface="Calibri"/>
                <a:cs typeface="Calibri"/>
                <a:sym typeface="Calibri"/>
              </a:rPr>
              <a:t>STATUS</a:t>
            </a:r>
            <a:endParaRPr sz="1100"/>
          </a:p>
        </p:txBody>
      </p:sp>
      <p:sp>
        <p:nvSpPr>
          <p:cNvPr id="251" name="Google Shape;251;p30"/>
          <p:cNvSpPr txBox="1"/>
          <p:nvPr/>
        </p:nvSpPr>
        <p:spPr>
          <a:xfrm>
            <a:off x="411491" y="617220"/>
            <a:ext cx="7886910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60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Shipped today, and what's already built but not surfaced</a:t>
            </a:r>
            <a:endParaRPr sz="1100"/>
          </a:p>
        </p:txBody>
      </p:sp>
      <p:sp>
        <p:nvSpPr>
          <p:cNvPr id="252" name="Google Shape;252;p30"/>
          <p:cNvSpPr/>
          <p:nvPr/>
        </p:nvSpPr>
        <p:spPr>
          <a:xfrm>
            <a:off x="411491" y="1371600"/>
            <a:ext cx="3874873" cy="3223260"/>
          </a:xfrm>
          <a:prstGeom prst="roundRect">
            <a:avLst>
              <a:gd fmla="val 5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0"/>
          <p:cNvSpPr txBox="1"/>
          <p:nvPr/>
        </p:nvSpPr>
        <p:spPr>
          <a:xfrm>
            <a:off x="651527" y="1577340"/>
            <a:ext cx="339480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158A5E"/>
                </a:solidFill>
                <a:latin typeface="Calibri"/>
                <a:ea typeface="Calibri"/>
                <a:cs typeface="Calibri"/>
                <a:sym typeface="Calibri"/>
              </a:rPr>
              <a:t>Live today</a:t>
            </a:r>
            <a:endParaRPr sz="1100"/>
          </a:p>
        </p:txBody>
      </p:sp>
      <p:sp>
        <p:nvSpPr>
          <p:cNvPr id="254" name="Google Shape;254;p30"/>
          <p:cNvSpPr/>
          <p:nvPr/>
        </p:nvSpPr>
        <p:spPr>
          <a:xfrm>
            <a:off x="651527" y="2016252"/>
            <a:ext cx="68582" cy="68580"/>
          </a:xfrm>
          <a:prstGeom prst="ellipse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0"/>
          <p:cNvSpPr txBox="1"/>
          <p:nvPr/>
        </p:nvSpPr>
        <p:spPr>
          <a:xfrm>
            <a:off x="809266" y="1954530"/>
            <a:ext cx="3223346" cy="37719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Opportunities board — the CSM landing screen, all four lanes</a:t>
            </a:r>
            <a:endParaRPr sz="1100"/>
          </a:p>
        </p:txBody>
      </p:sp>
      <p:sp>
        <p:nvSpPr>
          <p:cNvPr id="256" name="Google Shape;256;p30"/>
          <p:cNvSpPr/>
          <p:nvPr/>
        </p:nvSpPr>
        <p:spPr>
          <a:xfrm>
            <a:off x="651527" y="2510028"/>
            <a:ext cx="68582" cy="68580"/>
          </a:xfrm>
          <a:prstGeom prst="ellipse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0"/>
          <p:cNvSpPr txBox="1"/>
          <p:nvPr/>
        </p:nvSpPr>
        <p:spPr>
          <a:xfrm>
            <a:off x="809266" y="2448306"/>
            <a:ext cx="3223346" cy="37719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Daily automated research + on-demand “Run now”</a:t>
            </a:r>
            <a:endParaRPr sz="1100"/>
          </a:p>
        </p:txBody>
      </p:sp>
      <p:sp>
        <p:nvSpPr>
          <p:cNvPr id="258" name="Google Shape;258;p30"/>
          <p:cNvSpPr/>
          <p:nvPr/>
        </p:nvSpPr>
        <p:spPr>
          <a:xfrm>
            <a:off x="651527" y="3003804"/>
            <a:ext cx="68582" cy="68580"/>
          </a:xfrm>
          <a:prstGeom prst="ellipse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0"/>
          <p:cNvSpPr txBox="1"/>
          <p:nvPr/>
        </p:nvSpPr>
        <p:spPr>
          <a:xfrm>
            <a:off x="809266" y="2942082"/>
            <a:ext cx="3223346" cy="37719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Drafted, editable emails with recipient selection</a:t>
            </a:r>
            <a:endParaRPr sz="1100"/>
          </a:p>
        </p:txBody>
      </p:sp>
      <p:sp>
        <p:nvSpPr>
          <p:cNvPr id="260" name="Google Shape;260;p30"/>
          <p:cNvSpPr/>
          <p:nvPr/>
        </p:nvSpPr>
        <p:spPr>
          <a:xfrm>
            <a:off x="651527" y="3497580"/>
            <a:ext cx="68582" cy="68580"/>
          </a:xfrm>
          <a:prstGeom prst="ellipse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0"/>
          <p:cNvSpPr txBox="1"/>
          <p:nvPr/>
        </p:nvSpPr>
        <p:spPr>
          <a:xfrm>
            <a:off x="809266" y="3435858"/>
            <a:ext cx="3223346" cy="37719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MCP server for Claude Desktop / any MCP client</a:t>
            </a:r>
            <a:endParaRPr sz="1100"/>
          </a:p>
        </p:txBody>
      </p:sp>
      <p:sp>
        <p:nvSpPr>
          <p:cNvPr id="262" name="Google Shape;262;p30"/>
          <p:cNvSpPr/>
          <p:nvPr/>
        </p:nvSpPr>
        <p:spPr>
          <a:xfrm>
            <a:off x="651527" y="3991356"/>
            <a:ext cx="68582" cy="68580"/>
          </a:xfrm>
          <a:prstGeom prst="ellipse">
            <a:avLst/>
          </a:prstGeom>
          <a:solidFill>
            <a:srgbClr val="158A5E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0"/>
          <p:cNvSpPr txBox="1"/>
          <p:nvPr/>
        </p:nvSpPr>
        <p:spPr>
          <a:xfrm>
            <a:off x="809266" y="3929634"/>
            <a:ext cx="3223346" cy="37719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Density &amp; text-size controls, customer search/filter</a:t>
            </a:r>
            <a:endParaRPr sz="1100"/>
          </a:p>
        </p:txBody>
      </p:sp>
      <p:sp>
        <p:nvSpPr>
          <p:cNvPr id="264" name="Google Shape;264;p30"/>
          <p:cNvSpPr/>
          <p:nvPr/>
        </p:nvSpPr>
        <p:spPr>
          <a:xfrm>
            <a:off x="4492110" y="1371600"/>
            <a:ext cx="3874873" cy="3223260"/>
          </a:xfrm>
          <a:prstGeom prst="roundRect">
            <a:avLst>
              <a:gd fmla="val 5000" name="adj"/>
            </a:avLst>
          </a:prstGeom>
          <a:solidFill>
            <a:srgbClr val="F7F5FF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4732146" y="1577340"/>
            <a:ext cx="3394800" cy="27432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600" u="none" cap="none" strike="noStrike">
                <a:solidFill>
                  <a:srgbClr val="342378"/>
                </a:solidFill>
                <a:latin typeface="Calibri"/>
                <a:ea typeface="Calibri"/>
                <a:cs typeface="Calibri"/>
                <a:sym typeface="Calibri"/>
              </a:rPr>
              <a:t>Built, not yet in the nav</a:t>
            </a:r>
            <a:endParaRPr sz="1100"/>
          </a:p>
        </p:txBody>
      </p:sp>
      <p:sp>
        <p:nvSpPr>
          <p:cNvPr id="266" name="Google Shape;266;p30"/>
          <p:cNvSpPr/>
          <p:nvPr/>
        </p:nvSpPr>
        <p:spPr>
          <a:xfrm>
            <a:off x="4732146" y="2016252"/>
            <a:ext cx="68582" cy="68580"/>
          </a:xfrm>
          <a:prstGeom prst="ellipse">
            <a:avLst/>
          </a:prstGeom>
          <a:solidFill>
            <a:srgbClr val="342378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0"/>
          <p:cNvSpPr txBox="1"/>
          <p:nvPr/>
        </p:nvSpPr>
        <p:spPr>
          <a:xfrm>
            <a:off x="4889884" y="1954530"/>
            <a:ext cx="32233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Today view — agent-drafted daily priority list</a:t>
            </a:r>
            <a:endParaRPr sz="1100"/>
          </a:p>
        </p:txBody>
      </p:sp>
      <p:sp>
        <p:nvSpPr>
          <p:cNvPr id="268" name="Google Shape;268;p30"/>
          <p:cNvSpPr/>
          <p:nvPr/>
        </p:nvSpPr>
        <p:spPr>
          <a:xfrm>
            <a:off x="4732146" y="2599182"/>
            <a:ext cx="68582" cy="68580"/>
          </a:xfrm>
          <a:prstGeom prst="ellipse">
            <a:avLst/>
          </a:prstGeom>
          <a:solidFill>
            <a:srgbClr val="342378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30"/>
          <p:cNvSpPr txBox="1"/>
          <p:nvPr/>
        </p:nvSpPr>
        <p:spPr>
          <a:xfrm>
            <a:off x="4889884" y="2537460"/>
            <a:ext cx="32233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Ask view — plain-English portfolio Q&amp;A</a:t>
            </a:r>
            <a:endParaRPr sz="1100"/>
          </a:p>
        </p:txBody>
      </p:sp>
      <p:sp>
        <p:nvSpPr>
          <p:cNvPr id="270" name="Google Shape;270;p30"/>
          <p:cNvSpPr/>
          <p:nvPr/>
        </p:nvSpPr>
        <p:spPr>
          <a:xfrm>
            <a:off x="4732146" y="3182112"/>
            <a:ext cx="68582" cy="68580"/>
          </a:xfrm>
          <a:prstGeom prst="ellipse">
            <a:avLst/>
          </a:prstGeom>
          <a:solidFill>
            <a:srgbClr val="342378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0"/>
          <p:cNvSpPr txBox="1"/>
          <p:nvPr/>
        </p:nvSpPr>
        <p:spPr>
          <a:xfrm>
            <a:off x="4889884" y="3120390"/>
            <a:ext cx="32233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Customers view — per-account drill-down, score chart, decision-makers</a:t>
            </a:r>
            <a:endParaRPr sz="1100"/>
          </a:p>
        </p:txBody>
      </p:sp>
      <p:sp>
        <p:nvSpPr>
          <p:cNvPr id="272" name="Google Shape;272;p30"/>
          <p:cNvSpPr/>
          <p:nvPr/>
        </p:nvSpPr>
        <p:spPr>
          <a:xfrm>
            <a:off x="4732146" y="3765042"/>
            <a:ext cx="68582" cy="68580"/>
          </a:xfrm>
          <a:prstGeom prst="ellipse">
            <a:avLst/>
          </a:prstGeom>
          <a:solidFill>
            <a:srgbClr val="342378"/>
          </a:solidFill>
          <a:ln>
            <a:solid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30"/>
          <p:cNvSpPr txBox="1"/>
          <p:nvPr/>
        </p:nvSpPr>
        <p:spPr>
          <a:xfrm>
            <a:off x="4889884" y="3703320"/>
            <a:ext cx="3223346" cy="48006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50" u="none" cap="none" strike="noStrike">
                <a:solidFill>
                  <a:srgbClr val="1C153E"/>
                </a:solidFill>
                <a:latin typeface="Calibri"/>
                <a:ea typeface="Calibri"/>
                <a:cs typeface="Calibri"/>
                <a:sym typeface="Calibri"/>
              </a:rPr>
              <a:t>Manual research path for decision-makers via Claude prompt</a:t>
            </a:r>
            <a:endParaRPr sz="1100"/>
          </a:p>
        </p:txBody>
      </p:sp>
      <p:sp>
        <p:nvSpPr>
          <p:cNvPr id="274" name="Google Shape;274;p30"/>
          <p:cNvSpPr txBox="1"/>
          <p:nvPr/>
        </p:nvSpPr>
        <p:spPr>
          <a:xfrm>
            <a:off x="411491" y="4855464"/>
            <a:ext cx="4114910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Gaia ARR Growth Agent</a:t>
            </a:r>
            <a:endParaRPr sz="1100"/>
          </a:p>
        </p:txBody>
      </p:sp>
      <p:sp>
        <p:nvSpPr>
          <p:cNvPr id="275" name="Google Shape;275;p30"/>
          <p:cNvSpPr txBox="1"/>
          <p:nvPr/>
        </p:nvSpPr>
        <p:spPr>
          <a:xfrm>
            <a:off x="8229819" y="4855464"/>
            <a:ext cx="480073" cy="205740"/>
          </a:xfrm>
          <a:prstGeom prst="rect">
            <a:avLst/>
          </a:prstGeom>
          <a:noFill/>
          <a:ln>
            <a:solid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D5A72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