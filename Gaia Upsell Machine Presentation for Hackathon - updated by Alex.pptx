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Manual today</c:v>
                </c:pt>
              </c:strCache>
            </c:strRef>
          </c:tx>
          <c:spPr>
            <a:solidFill>
              <a:srgbClr val="5D5A72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1C153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Find the trigger</c:v>
                </c:pt>
                <c:pt idx="1">
                  <c:v>Draft outreach</c:v>
                </c:pt>
                <c:pt idx="2">
                  <c:v>Review account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</c:v>
                </c:pt>
                <c:pt idx="1">
                  <c:v>52</c:v>
                </c:pt>
                <c:pt idx="2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Gaia</c:v>
                </c:pt>
              </c:strCache>
            </c:strRef>
          </c:tx>
          <c:spPr>
            <a:solidFill>
              <a:srgbClr val="5422FF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1C153E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Find the trigger</c:v>
                </c:pt>
                <c:pt idx="1">
                  <c:v>Draft outreach</c:v>
                </c:pt>
                <c:pt idx="2">
                  <c:v>Review account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13</c:v>
                </c:pt>
                <c:pt idx="2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>
                <a:solidFill>
                  <a:srgbClr val="5D5A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4F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50">
                    <a:solidFill>
                      <a:srgbClr val="5D5A72"/>
                    </a:solidFill>
                    <a:latin typeface="Calibri"/>
                  </a:rP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50">
                <a:solidFill>
                  <a:srgbClr val="5D5A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900">
              <a:solidFill>
                <a:srgbClr val="5D5A72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d1212c78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6d1212c78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d1212c78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6d1212c78_3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d1212c78_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6d1212c78_3_11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6d1212c78_3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6d1212c78_3_13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d1212c78_3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6d1212c78_3_16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6d1212c78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6d1212c78_3_1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1C153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0" y="4526280"/>
            <a:ext cx="9144015" cy="41148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617236" y="1748790"/>
            <a:ext cx="4252073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A86FF"/>
                </a:solidFill>
                <a:latin typeface="Calibri"/>
                <a:ea typeface="Calibri"/>
                <a:cs typeface="Calibri"/>
                <a:sym typeface="Calibri"/>
              </a:rPr>
              <a:t>PROJECT 5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617236" y="2023110"/>
            <a:ext cx="7544001" cy="8915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Gaia ARR Growth Agent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617236" y="2640330"/>
            <a:ext cx="7201092" cy="6172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An AI agent that helps CSMs upsell existing customers — surfacing every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signal across the portfolio, built on SecurityScorecard APIs.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617236" y="4629150"/>
            <a:ext cx="5486546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B3AECB"/>
                </a:solidFill>
                <a:latin typeface="Calibri"/>
                <a:ea typeface="Calibri"/>
                <a:cs typeface="Calibri"/>
                <a:sym typeface="Calibri"/>
              </a:rPr>
              <a:t>SecurityScorecard  ·  Customer Success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Upsell signals exist — but they're scattered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411491" y="1062990"/>
            <a:ext cx="7681165" cy="34290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CSMs already have the data. It's just spread across too many places to act on consistently.</a:t>
            </a:r>
            <a:endParaRPr sz="1100"/>
          </a:p>
        </p:txBody>
      </p:sp>
      <p:sp>
        <p:nvSpPr>
          <p:cNvPr id="145" name="Google Shape;145;p26"/>
          <p:cNvSpPr/>
          <p:nvPr/>
        </p:nvSpPr>
        <p:spPr>
          <a:xfrm>
            <a:off x="411491" y="1611630"/>
            <a:ext cx="1906575" cy="243459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411491" y="1611630"/>
            <a:ext cx="1906575" cy="54864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62371" y="1817370"/>
            <a:ext cx="1604815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Score improvements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562371" y="2263140"/>
            <a:ext cx="1604815" cy="16459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 customer's own posture gets better — proof the platform is working — but nobody flags it as an upsell moment.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2510094" y="1611630"/>
            <a:ext cx="1906575" cy="243459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2510094" y="1611630"/>
            <a:ext cx="1906575" cy="54864"/>
          </a:xfrm>
          <a:prstGeom prst="rect">
            <a:avLst/>
          </a:prstGeom>
          <a:solidFill>
            <a:srgbClr val="158A5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2660974" y="1817370"/>
            <a:ext cx="1604815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Usage signals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2660974" y="2263140"/>
            <a:ext cx="1604815" cy="16459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Accounts approaching plan limits are ready to grow, but that's buried in usage logs, not a CSM's inbox.</a:t>
            </a:r>
            <a:endParaRPr sz="1100"/>
          </a:p>
        </p:txBody>
      </p:sp>
      <p:sp>
        <p:nvSpPr>
          <p:cNvPr id="153" name="Google Shape;153;p26"/>
          <p:cNvSpPr/>
          <p:nvPr/>
        </p:nvSpPr>
        <p:spPr>
          <a:xfrm>
            <a:off x="4608698" y="1611630"/>
            <a:ext cx="1906575" cy="243459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4608698" y="1611630"/>
            <a:ext cx="1906575" cy="54864"/>
          </a:xfrm>
          <a:prstGeom prst="rect">
            <a:avLst/>
          </a:prstGeom>
          <a:solidFill>
            <a:srgbClr val="D98E2B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4759578" y="1817370"/>
            <a:ext cx="1604815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Supplier &amp; sector risk</a:t>
            </a:r>
            <a:endParaRPr sz="1100"/>
          </a:p>
        </p:txBody>
      </p:sp>
      <p:sp>
        <p:nvSpPr>
          <p:cNvPr id="156" name="Google Shape;156;p26"/>
          <p:cNvSpPr txBox="1"/>
          <p:nvPr/>
        </p:nvSpPr>
        <p:spPr>
          <a:xfrm>
            <a:off x="4759578" y="2263140"/>
            <a:ext cx="1604815" cy="16459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Third-party risk shows up outside the customer's own score, and rarely reaches the CSM who owns the account.</a:t>
            </a:r>
            <a:endParaRPr sz="1100"/>
          </a:p>
        </p:txBody>
      </p:sp>
      <p:sp>
        <p:nvSpPr>
          <p:cNvPr id="157" name="Google Shape;157;p26"/>
          <p:cNvSpPr/>
          <p:nvPr/>
        </p:nvSpPr>
        <p:spPr>
          <a:xfrm>
            <a:off x="6707303" y="1611630"/>
            <a:ext cx="1906575" cy="243459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6707303" y="1611630"/>
            <a:ext cx="1906575" cy="54864"/>
          </a:xfrm>
          <a:prstGeom prst="rect">
            <a:avLst/>
          </a:prstGeom>
          <a:solidFill>
            <a:srgbClr val="5D5A72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6858183" y="1817370"/>
            <a:ext cx="1604815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Company news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6858183" y="2263140"/>
            <a:ext cx="1604815" cy="16459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Funding, leadership changes, and other timely moments come and go before anyone reaches out.</a:t>
            </a:r>
            <a:endParaRPr sz="1100"/>
          </a:p>
        </p:txBody>
      </p:sp>
      <p:sp>
        <p:nvSpPr>
          <p:cNvPr id="161" name="Google Shape;161;p26"/>
          <p:cNvSpPr txBox="1"/>
          <p:nvPr/>
        </p:nvSpPr>
        <p:spPr>
          <a:xfrm>
            <a:off x="411491" y="4855464"/>
            <a:ext cx="4114910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Gaia ARR Growth Agent</a:t>
            </a:r>
            <a:endParaRPr sz="1100"/>
          </a:p>
        </p:txBody>
      </p:sp>
      <p:sp>
        <p:nvSpPr>
          <p:cNvPr id="162" name="Google Shape;162;p26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PRODUCT</a:t>
            </a:r>
            <a:endParaRPr sz="1100"/>
          </a:p>
        </p:txBody>
      </p:sp>
      <p:sp>
        <p:nvSpPr>
          <p:cNvPr id="170" name="Google Shape;170;p27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One board: every signal, four lanes</a:t>
            </a:r>
            <a:endParaRPr sz="1100"/>
          </a:p>
        </p:txBody>
      </p:sp>
      <p:sp>
        <p:nvSpPr>
          <p:cNvPr id="171" name="Google Shape;171;p27"/>
          <p:cNvSpPr txBox="1"/>
          <p:nvPr/>
        </p:nvSpPr>
        <p:spPr>
          <a:xfrm>
            <a:off x="411491" y="1062990"/>
            <a:ext cx="7818328" cy="34290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The Opportunities board is the landing screen — the single place CSMs work the whole portfolio.</a:t>
            </a:r>
            <a:endParaRPr sz="1100"/>
          </a:p>
        </p:txBody>
      </p:sp>
      <p:sp>
        <p:nvSpPr>
          <p:cNvPr id="172" name="Google Shape;172;p27"/>
          <p:cNvSpPr/>
          <p:nvPr/>
        </p:nvSpPr>
        <p:spPr>
          <a:xfrm>
            <a:off x="411491" y="1611630"/>
            <a:ext cx="7955492" cy="651510"/>
          </a:xfrm>
          <a:prstGeom prst="roundRect">
            <a:avLst>
              <a:gd fmla="val 12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411491" y="1611630"/>
            <a:ext cx="82298" cy="651510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651527" y="1700784"/>
            <a:ext cx="2057455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Own Cyber Posture</a:t>
            </a:r>
            <a:endParaRPr sz="1100"/>
          </a:p>
        </p:txBody>
      </p:sp>
      <p:sp>
        <p:nvSpPr>
          <p:cNvPr id="175" name="Google Shape;175;p27"/>
          <p:cNvSpPr txBox="1"/>
          <p:nvPr/>
        </p:nvSpPr>
        <p:spPr>
          <a:xfrm>
            <a:off x="2811854" y="1700784"/>
            <a:ext cx="5417964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Evidence the customer's own security is already paying off</a:t>
            </a:r>
            <a:endParaRPr sz="1100"/>
          </a:p>
        </p:txBody>
      </p:sp>
      <p:sp>
        <p:nvSpPr>
          <p:cNvPr id="176" name="Google Shape;176;p27"/>
          <p:cNvSpPr/>
          <p:nvPr/>
        </p:nvSpPr>
        <p:spPr>
          <a:xfrm>
            <a:off x="411491" y="2386584"/>
            <a:ext cx="7955492" cy="651510"/>
          </a:xfrm>
          <a:prstGeom prst="roundRect">
            <a:avLst>
              <a:gd fmla="val 12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411491" y="2386584"/>
            <a:ext cx="82298" cy="651510"/>
          </a:xfrm>
          <a:prstGeom prst="rect">
            <a:avLst/>
          </a:prstGeom>
          <a:solidFill>
            <a:srgbClr val="158A5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651527" y="2475738"/>
            <a:ext cx="2057455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Usage</a:t>
            </a:r>
            <a:endParaRPr sz="1100"/>
          </a:p>
        </p:txBody>
      </p:sp>
      <p:sp>
        <p:nvSpPr>
          <p:cNvPr id="179" name="Google Shape;179;p27"/>
          <p:cNvSpPr txBox="1"/>
          <p:nvPr/>
        </p:nvSpPr>
        <p:spPr>
          <a:xfrm>
            <a:off x="2811854" y="2475738"/>
            <a:ext cx="5417964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Platform usage telling you the account is ready for more</a:t>
            </a:r>
            <a:endParaRPr sz="1100"/>
          </a:p>
        </p:txBody>
      </p:sp>
      <p:sp>
        <p:nvSpPr>
          <p:cNvPr id="180" name="Google Shape;180;p27"/>
          <p:cNvSpPr/>
          <p:nvPr/>
        </p:nvSpPr>
        <p:spPr>
          <a:xfrm>
            <a:off x="411491" y="3161538"/>
            <a:ext cx="7955492" cy="651510"/>
          </a:xfrm>
          <a:prstGeom prst="roundRect">
            <a:avLst>
              <a:gd fmla="val 12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411491" y="3161538"/>
            <a:ext cx="82298" cy="651510"/>
          </a:xfrm>
          <a:prstGeom prst="rect">
            <a:avLst/>
          </a:prstGeom>
          <a:solidFill>
            <a:srgbClr val="D98E2B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651527" y="3250692"/>
            <a:ext cx="2057455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Suppliers</a:t>
            </a:r>
            <a:endParaRPr sz="1100"/>
          </a:p>
        </p:txBody>
      </p:sp>
      <p:sp>
        <p:nvSpPr>
          <p:cNvPr id="183" name="Google Shape;183;p27"/>
          <p:cNvSpPr txBox="1"/>
          <p:nvPr/>
        </p:nvSpPr>
        <p:spPr>
          <a:xfrm>
            <a:off x="2811854" y="3250692"/>
            <a:ext cx="5417964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Third-party and sector risk detected outside the customer's own score</a:t>
            </a:r>
            <a:endParaRPr sz="1100"/>
          </a:p>
        </p:txBody>
      </p:sp>
      <p:sp>
        <p:nvSpPr>
          <p:cNvPr id="184" name="Google Shape;184;p27"/>
          <p:cNvSpPr/>
          <p:nvPr/>
        </p:nvSpPr>
        <p:spPr>
          <a:xfrm>
            <a:off x="411491" y="3936492"/>
            <a:ext cx="7955492" cy="651510"/>
          </a:xfrm>
          <a:prstGeom prst="roundRect">
            <a:avLst>
              <a:gd fmla="val 12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411491" y="3936492"/>
            <a:ext cx="82298" cy="651510"/>
          </a:xfrm>
          <a:prstGeom prst="rect">
            <a:avLst/>
          </a:prstGeom>
          <a:solidFill>
            <a:srgbClr val="5D5A72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651527" y="4025646"/>
            <a:ext cx="2057455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News</a:t>
            </a:r>
            <a:endParaRPr sz="1100"/>
          </a:p>
        </p:txBody>
      </p:sp>
      <p:sp>
        <p:nvSpPr>
          <p:cNvPr id="187" name="Google Shape;187;p27"/>
          <p:cNvSpPr txBox="1"/>
          <p:nvPr/>
        </p:nvSpPr>
        <p:spPr>
          <a:xfrm>
            <a:off x="2811854" y="4025646"/>
            <a:ext cx="5417964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Company news and people moments worth a direct, timely touch</a:t>
            </a:r>
            <a:endParaRPr sz="1100"/>
          </a:p>
        </p:txBody>
      </p:sp>
      <p:sp>
        <p:nvSpPr>
          <p:cNvPr id="188" name="Google Shape;188;p27"/>
          <p:cNvSpPr txBox="1"/>
          <p:nvPr/>
        </p:nvSpPr>
        <p:spPr>
          <a:xfrm>
            <a:off x="411491" y="4855464"/>
            <a:ext cx="4114910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Gaia ARR Growth Agent</a:t>
            </a:r>
            <a:endParaRPr sz="1100"/>
          </a:p>
        </p:txBody>
      </p:sp>
      <p:sp>
        <p:nvSpPr>
          <p:cNvPr id="189" name="Google Shape;189;p27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EXPERIENCE</a:t>
            </a:r>
            <a:endParaRPr sz="1100"/>
          </a:p>
        </p:txBody>
      </p:sp>
      <p:sp>
        <p:nvSpPr>
          <p:cNvPr id="197" name="Google Shape;197;p28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Designed for a five-second scan, not a report</a:t>
            </a:r>
            <a:endParaRPr sz="1100"/>
          </a:p>
        </p:txBody>
      </p:sp>
      <p:sp>
        <p:nvSpPr>
          <p:cNvPr id="198" name="Google Shape;198;p28"/>
          <p:cNvSpPr/>
          <p:nvPr/>
        </p:nvSpPr>
        <p:spPr>
          <a:xfrm>
            <a:off x="411491" y="1303020"/>
            <a:ext cx="3154764" cy="2057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4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411491" y="1303020"/>
            <a:ext cx="68582" cy="2057400"/>
          </a:xfrm>
          <a:prstGeom prst="rect">
            <a:avLst/>
          </a:prstGeom>
          <a:solidFill>
            <a:srgbClr val="158A5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617236" y="1474470"/>
            <a:ext cx="2674691" cy="24003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USAGE</a:t>
            </a:r>
            <a:endParaRPr sz="1100"/>
          </a:p>
        </p:txBody>
      </p:sp>
      <p:sp>
        <p:nvSpPr>
          <p:cNvPr id="201" name="Google Shape;201;p28"/>
          <p:cNvSpPr txBox="1"/>
          <p:nvPr/>
        </p:nvSpPr>
        <p:spPr>
          <a:xfrm>
            <a:off x="617236" y="1714500"/>
            <a:ext cx="2674691" cy="5486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Flag rising slot usage before it hits the licensed cap.</a:t>
            </a:r>
            <a:endParaRPr sz="1100"/>
          </a:p>
        </p:txBody>
      </p:sp>
      <p:sp>
        <p:nvSpPr>
          <p:cNvPr id="202" name="Google Shape;202;p28"/>
          <p:cNvSpPr txBox="1"/>
          <p:nvPr/>
        </p:nvSpPr>
        <p:spPr>
          <a:xfrm>
            <a:off x="617236" y="2366010"/>
            <a:ext cx="240036" cy="24003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ⓘ</a:t>
            </a:r>
            <a:endParaRPr sz="1100"/>
          </a:p>
        </p:txBody>
      </p:sp>
      <p:sp>
        <p:nvSpPr>
          <p:cNvPr id="203" name="Google Shape;203;p28"/>
          <p:cNvSpPr txBox="1"/>
          <p:nvPr/>
        </p:nvSpPr>
        <p:spPr>
          <a:xfrm>
            <a:off x="891564" y="2366010"/>
            <a:ext cx="2331782" cy="24003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click for the fuller explanation</a:t>
            </a:r>
            <a:endParaRPr sz="1100"/>
          </a:p>
        </p:txBody>
      </p:sp>
      <p:sp>
        <p:nvSpPr>
          <p:cNvPr id="204" name="Google Shape;204;p28"/>
          <p:cNvSpPr/>
          <p:nvPr/>
        </p:nvSpPr>
        <p:spPr>
          <a:xfrm>
            <a:off x="617236" y="2846070"/>
            <a:ext cx="1165891" cy="342900"/>
          </a:xfrm>
          <a:prstGeom prst="roundRect">
            <a:avLst>
              <a:gd fmla="val 30000" name="adj"/>
            </a:avLst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617236" y="2846070"/>
            <a:ext cx="1165891" cy="342900"/>
          </a:xfrm>
          <a:prstGeom prst="rect">
            <a:avLst/>
          </a:prstGeom>
          <a:noFill/>
          <a:ln>
            <a:solid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Draft email</a:t>
            </a:r>
            <a:endParaRPr sz="1100"/>
          </a:p>
        </p:txBody>
      </p:sp>
      <p:sp>
        <p:nvSpPr>
          <p:cNvPr id="206" name="Google Shape;206;p28"/>
          <p:cNvSpPr/>
          <p:nvPr/>
        </p:nvSpPr>
        <p:spPr>
          <a:xfrm>
            <a:off x="3806291" y="1392174"/>
            <a:ext cx="68582" cy="68580"/>
          </a:xfrm>
          <a:prstGeom prst="ellipse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3977746" y="1337310"/>
            <a:ext cx="47321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Active-voice instruction leads every card — the ask, not the raw data.</a:t>
            </a:r>
            <a:endParaRPr sz="1100"/>
          </a:p>
        </p:txBody>
      </p:sp>
      <p:sp>
        <p:nvSpPr>
          <p:cNvPr id="208" name="Google Shape;208;p28"/>
          <p:cNvSpPr/>
          <p:nvPr/>
        </p:nvSpPr>
        <p:spPr>
          <a:xfrm>
            <a:off x="3806291" y="1817370"/>
            <a:ext cx="68582" cy="68580"/>
          </a:xfrm>
          <a:prstGeom prst="ellipse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3977746" y="1762506"/>
            <a:ext cx="47321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Default / Detailed / Compact views trade off density; text-size control persists across reloads.</a:t>
            </a:r>
            <a:endParaRPr sz="1100"/>
          </a:p>
        </p:txBody>
      </p:sp>
      <p:sp>
        <p:nvSpPr>
          <p:cNvPr id="210" name="Google Shape;210;p28"/>
          <p:cNvSpPr/>
          <p:nvPr/>
        </p:nvSpPr>
        <p:spPr>
          <a:xfrm>
            <a:off x="3806291" y="2242566"/>
            <a:ext cx="68582" cy="68580"/>
          </a:xfrm>
          <a:prstGeom prst="ellipse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3977746" y="2187702"/>
            <a:ext cx="47321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Search + multi-select narrows the whole board to specific accounts, with customer logos.</a:t>
            </a:r>
            <a:endParaRPr sz="1100"/>
          </a:p>
        </p:txBody>
      </p:sp>
      <p:sp>
        <p:nvSpPr>
          <p:cNvPr id="212" name="Google Shape;212;p28"/>
          <p:cNvSpPr/>
          <p:nvPr/>
        </p:nvSpPr>
        <p:spPr>
          <a:xfrm>
            <a:off x="3806291" y="2667762"/>
            <a:ext cx="68582" cy="68580"/>
          </a:xfrm>
          <a:prstGeom prst="ellipse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3977746" y="2612898"/>
            <a:ext cx="47321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One click opens an editable, pre-drafted email with a recipient dropdown — News cards link the source article.</a:t>
            </a:r>
            <a:endParaRPr sz="1100"/>
          </a:p>
        </p:txBody>
      </p:sp>
      <p:sp>
        <p:nvSpPr>
          <p:cNvPr id="214" name="Google Shape;214;p28"/>
          <p:cNvSpPr/>
          <p:nvPr/>
        </p:nvSpPr>
        <p:spPr>
          <a:xfrm>
            <a:off x="3806291" y="3092958"/>
            <a:ext cx="68582" cy="68580"/>
          </a:xfrm>
          <a:prstGeom prst="ellipse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3977746" y="3038094"/>
            <a:ext cx="47321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Provenance icons show where each signal came from; unbuilt triggers can show as labeled concept cards.</a:t>
            </a:r>
            <a:endParaRPr sz="1100"/>
          </a:p>
        </p:txBody>
      </p:sp>
      <p:sp>
        <p:nvSpPr>
          <p:cNvPr id="216" name="Google Shape;216;p28"/>
          <p:cNvSpPr txBox="1"/>
          <p:nvPr/>
        </p:nvSpPr>
        <p:spPr>
          <a:xfrm>
            <a:off x="411491" y="4855464"/>
            <a:ext cx="4114910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Gaia ARR Growth Agent</a:t>
            </a:r>
            <a:endParaRPr sz="1100"/>
          </a:p>
        </p:txBody>
      </p:sp>
      <p:sp>
        <p:nvSpPr>
          <p:cNvPr id="217" name="Google Shape;217;p28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1100"/>
          </a:p>
        </p:txBody>
      </p:sp>
      <p:sp>
        <p:nvSpPr>
          <p:cNvPr id="225" name="Google Shape;225;p29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Unattended research, reachable however a CSM works</a:t>
            </a:r>
            <a:endParaRPr sz="1100"/>
          </a:p>
        </p:txBody>
      </p:sp>
      <p:sp>
        <p:nvSpPr>
          <p:cNvPr id="226" name="Google Shape;226;p29"/>
          <p:cNvSpPr/>
          <p:nvPr/>
        </p:nvSpPr>
        <p:spPr>
          <a:xfrm>
            <a:off x="411491" y="161163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411491" y="1611630"/>
            <a:ext cx="54865" cy="1337310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617236" y="1762506"/>
            <a:ext cx="3463382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Daily research</a:t>
            </a:r>
            <a:endParaRPr sz="1100"/>
          </a:p>
        </p:txBody>
      </p:sp>
      <p:sp>
        <p:nvSpPr>
          <p:cNvPr id="229" name="Google Shape;229;p29"/>
          <p:cNvSpPr txBox="1"/>
          <p:nvPr/>
        </p:nvSpPr>
        <p:spPr>
          <a:xfrm>
            <a:off x="617236" y="2105406"/>
            <a:ext cx="3463382" cy="75438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Runs unattended once a day: searches the news for every account and extracts structured events into the board.</a:t>
            </a:r>
            <a:endParaRPr sz="1100"/>
          </a:p>
        </p:txBody>
      </p:sp>
      <p:sp>
        <p:nvSpPr>
          <p:cNvPr id="230" name="Google Shape;230;p29"/>
          <p:cNvSpPr/>
          <p:nvPr/>
        </p:nvSpPr>
        <p:spPr>
          <a:xfrm>
            <a:off x="4492110" y="161163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4492110" y="1611630"/>
            <a:ext cx="54865" cy="1337310"/>
          </a:xfrm>
          <a:prstGeom prst="rect">
            <a:avLst/>
          </a:prstGeom>
          <a:solidFill>
            <a:srgbClr val="342378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4697855" y="1762506"/>
            <a:ext cx="3463382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SecurityScorecard APIs</a:t>
            </a:r>
            <a:endParaRPr sz="1100"/>
          </a:p>
        </p:txBody>
      </p:sp>
      <p:sp>
        <p:nvSpPr>
          <p:cNvPr id="233" name="Google Shape;233;p29"/>
          <p:cNvSpPr txBox="1"/>
          <p:nvPr/>
        </p:nvSpPr>
        <p:spPr>
          <a:xfrm>
            <a:off x="4697855" y="2105406"/>
            <a:ext cx="3463382" cy="75438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Own-score, usage, and supplier/sector risk all come straight from the platform the team already trusts.</a:t>
            </a:r>
            <a:endParaRPr sz="1100"/>
          </a:p>
        </p:txBody>
      </p:sp>
      <p:sp>
        <p:nvSpPr>
          <p:cNvPr id="234" name="Google Shape;234;p29"/>
          <p:cNvSpPr/>
          <p:nvPr/>
        </p:nvSpPr>
        <p:spPr>
          <a:xfrm>
            <a:off x="411491" y="315468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411491" y="3154680"/>
            <a:ext cx="54865" cy="1337310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617236" y="3305556"/>
            <a:ext cx="3463382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Tool-calling agent</a:t>
            </a:r>
            <a:endParaRPr sz="1100"/>
          </a:p>
        </p:txBody>
      </p:sp>
      <p:sp>
        <p:nvSpPr>
          <p:cNvPr id="237" name="Google Shape;237;p29"/>
          <p:cNvSpPr txBox="1"/>
          <p:nvPr/>
        </p:nvSpPr>
        <p:spPr>
          <a:xfrm>
            <a:off x="617236" y="3648456"/>
            <a:ext cx="3463382" cy="75438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Answers plain-English portfolio questions and drafts a ranked daily worklist with emails, via API or chat.</a:t>
            </a:r>
            <a:endParaRPr sz="1100"/>
          </a:p>
        </p:txBody>
      </p:sp>
      <p:sp>
        <p:nvSpPr>
          <p:cNvPr id="238" name="Google Shape;238;p29"/>
          <p:cNvSpPr/>
          <p:nvPr/>
        </p:nvSpPr>
        <p:spPr>
          <a:xfrm>
            <a:off x="4492110" y="315468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4492110" y="3154680"/>
            <a:ext cx="54865" cy="1337310"/>
          </a:xfrm>
          <a:prstGeom prst="rect">
            <a:avLst/>
          </a:prstGeom>
          <a:solidFill>
            <a:srgbClr val="342378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4697855" y="3305556"/>
            <a:ext cx="3463382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sz="1100"/>
          </a:p>
        </p:txBody>
      </p:sp>
      <p:sp>
        <p:nvSpPr>
          <p:cNvPr id="241" name="Google Shape;241;p29"/>
          <p:cNvSpPr txBox="1"/>
          <p:nvPr/>
        </p:nvSpPr>
        <p:spPr>
          <a:xfrm>
            <a:off x="4697855" y="3648456"/>
            <a:ext cx="3463382" cy="75438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Exposes the same portfolio tools to any MCP client (e.g. Claude Desktop) — a CSM can work the portfolio with no UI at all.</a:t>
            </a:r>
            <a:endParaRPr sz="1100"/>
          </a:p>
        </p:txBody>
      </p:sp>
      <p:sp>
        <p:nvSpPr>
          <p:cNvPr id="242" name="Google Shape;242;p29"/>
          <p:cNvSpPr txBox="1"/>
          <p:nvPr/>
        </p:nvSpPr>
        <p:spPr>
          <a:xfrm>
            <a:off x="411491" y="4855464"/>
            <a:ext cx="4114910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Gaia ARR Growth Agent</a:t>
            </a:r>
            <a:endParaRPr sz="1100"/>
          </a:p>
        </p:txBody>
      </p:sp>
      <p:sp>
        <p:nvSpPr>
          <p:cNvPr id="243" name="Google Shape;243;p29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100"/>
          </a:p>
        </p:txBody>
      </p:sp>
      <p:sp>
        <p:nvSpPr>
          <p:cNvPr id="251" name="Google Shape;251;p30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Shipped today, and what's already built but not surfaced</a:t>
            </a:r>
            <a:endParaRPr sz="1100"/>
          </a:p>
        </p:txBody>
      </p:sp>
      <p:sp>
        <p:nvSpPr>
          <p:cNvPr id="252" name="Google Shape;252;p30"/>
          <p:cNvSpPr/>
          <p:nvPr/>
        </p:nvSpPr>
        <p:spPr>
          <a:xfrm>
            <a:off x="411491" y="1371600"/>
            <a:ext cx="3874873" cy="3223260"/>
          </a:xfrm>
          <a:prstGeom prst="roundRect">
            <a:avLst>
              <a:gd fmla="val 5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651527" y="1577340"/>
            <a:ext cx="3394800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Live today</a:t>
            </a:r>
            <a:endParaRPr sz="1100"/>
          </a:p>
        </p:txBody>
      </p:sp>
      <p:sp>
        <p:nvSpPr>
          <p:cNvPr id="254" name="Google Shape;254;p30"/>
          <p:cNvSpPr/>
          <p:nvPr/>
        </p:nvSpPr>
        <p:spPr>
          <a:xfrm>
            <a:off x="651527" y="2016252"/>
            <a:ext cx="68582" cy="68580"/>
          </a:xfrm>
          <a:prstGeom prst="ellipse">
            <a:avLst/>
          </a:prstGeom>
          <a:solidFill>
            <a:srgbClr val="158A5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809266" y="1954530"/>
            <a:ext cx="3223346" cy="37719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Opportunities board — the CSM landing screen, all four lanes</a:t>
            </a:r>
            <a:endParaRPr sz="1100"/>
          </a:p>
        </p:txBody>
      </p:sp>
      <p:sp>
        <p:nvSpPr>
          <p:cNvPr id="256" name="Google Shape;256;p30"/>
          <p:cNvSpPr/>
          <p:nvPr/>
        </p:nvSpPr>
        <p:spPr>
          <a:xfrm>
            <a:off x="651527" y="2510028"/>
            <a:ext cx="68582" cy="68580"/>
          </a:xfrm>
          <a:prstGeom prst="ellipse">
            <a:avLst/>
          </a:prstGeom>
          <a:solidFill>
            <a:srgbClr val="158A5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809266" y="2448306"/>
            <a:ext cx="3223346" cy="37719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Daily automated research + on-demand “Run now”</a:t>
            </a:r>
            <a:endParaRPr sz="1100"/>
          </a:p>
        </p:txBody>
      </p:sp>
      <p:sp>
        <p:nvSpPr>
          <p:cNvPr id="258" name="Google Shape;258;p30"/>
          <p:cNvSpPr/>
          <p:nvPr/>
        </p:nvSpPr>
        <p:spPr>
          <a:xfrm>
            <a:off x="651527" y="3003804"/>
            <a:ext cx="68582" cy="68580"/>
          </a:xfrm>
          <a:prstGeom prst="ellipse">
            <a:avLst/>
          </a:prstGeom>
          <a:solidFill>
            <a:srgbClr val="158A5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809266" y="2942082"/>
            <a:ext cx="3223346" cy="37719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Drafted, editable emails with recipient selection</a:t>
            </a:r>
            <a:endParaRPr sz="1100"/>
          </a:p>
        </p:txBody>
      </p:sp>
      <p:sp>
        <p:nvSpPr>
          <p:cNvPr id="260" name="Google Shape;260;p30"/>
          <p:cNvSpPr/>
          <p:nvPr/>
        </p:nvSpPr>
        <p:spPr>
          <a:xfrm>
            <a:off x="651527" y="3497580"/>
            <a:ext cx="68582" cy="68580"/>
          </a:xfrm>
          <a:prstGeom prst="ellipse">
            <a:avLst/>
          </a:prstGeom>
          <a:solidFill>
            <a:srgbClr val="158A5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809266" y="3435858"/>
            <a:ext cx="3223346" cy="37719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MCP server for Claude Desktop / any MCP client</a:t>
            </a:r>
            <a:endParaRPr sz="1100"/>
          </a:p>
        </p:txBody>
      </p:sp>
      <p:sp>
        <p:nvSpPr>
          <p:cNvPr id="262" name="Google Shape;262;p30"/>
          <p:cNvSpPr/>
          <p:nvPr/>
        </p:nvSpPr>
        <p:spPr>
          <a:xfrm>
            <a:off x="651527" y="3991356"/>
            <a:ext cx="68582" cy="68580"/>
          </a:xfrm>
          <a:prstGeom prst="ellipse">
            <a:avLst/>
          </a:prstGeom>
          <a:solidFill>
            <a:srgbClr val="158A5E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809266" y="3929634"/>
            <a:ext cx="3223346" cy="37719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Density &amp; text-size controls, customer search/filter</a:t>
            </a:r>
            <a:endParaRPr sz="1100"/>
          </a:p>
        </p:txBody>
      </p:sp>
      <p:sp>
        <p:nvSpPr>
          <p:cNvPr id="264" name="Google Shape;264;p30"/>
          <p:cNvSpPr/>
          <p:nvPr/>
        </p:nvSpPr>
        <p:spPr>
          <a:xfrm>
            <a:off x="4492110" y="1371600"/>
            <a:ext cx="3874873" cy="3223260"/>
          </a:xfrm>
          <a:prstGeom prst="roundRect">
            <a:avLst>
              <a:gd fmla="val 5000" name="adj"/>
            </a:avLst>
          </a:prstGeom>
          <a:solidFill>
            <a:srgbClr val="F7F5FF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4732146" y="1577340"/>
            <a:ext cx="3394800" cy="27432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342378"/>
                </a:solidFill>
                <a:latin typeface="Calibri"/>
                <a:ea typeface="Calibri"/>
                <a:cs typeface="Calibri"/>
                <a:sym typeface="Calibri"/>
              </a:rPr>
              <a:t>Built, not yet in the nav</a:t>
            </a:r>
            <a:endParaRPr sz="1100"/>
          </a:p>
        </p:txBody>
      </p:sp>
      <p:sp>
        <p:nvSpPr>
          <p:cNvPr id="266" name="Google Shape;266;p30"/>
          <p:cNvSpPr/>
          <p:nvPr/>
        </p:nvSpPr>
        <p:spPr>
          <a:xfrm>
            <a:off x="4732146" y="2016252"/>
            <a:ext cx="68582" cy="68580"/>
          </a:xfrm>
          <a:prstGeom prst="ellipse">
            <a:avLst/>
          </a:prstGeom>
          <a:solidFill>
            <a:srgbClr val="342378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4889884" y="1954530"/>
            <a:ext cx="32233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Today view — agent-drafted daily priority list</a:t>
            </a:r>
            <a:endParaRPr sz="1100"/>
          </a:p>
        </p:txBody>
      </p:sp>
      <p:sp>
        <p:nvSpPr>
          <p:cNvPr id="268" name="Google Shape;268;p30"/>
          <p:cNvSpPr/>
          <p:nvPr/>
        </p:nvSpPr>
        <p:spPr>
          <a:xfrm>
            <a:off x="4732146" y="2599182"/>
            <a:ext cx="68582" cy="68580"/>
          </a:xfrm>
          <a:prstGeom prst="ellipse">
            <a:avLst/>
          </a:prstGeom>
          <a:solidFill>
            <a:srgbClr val="342378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0"/>
          <p:cNvSpPr txBox="1"/>
          <p:nvPr/>
        </p:nvSpPr>
        <p:spPr>
          <a:xfrm>
            <a:off x="4889884" y="2537460"/>
            <a:ext cx="32233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Ask view — plain-English portfolio Q&amp;A</a:t>
            </a:r>
            <a:endParaRPr sz="1100"/>
          </a:p>
        </p:txBody>
      </p:sp>
      <p:sp>
        <p:nvSpPr>
          <p:cNvPr id="270" name="Google Shape;270;p30"/>
          <p:cNvSpPr/>
          <p:nvPr/>
        </p:nvSpPr>
        <p:spPr>
          <a:xfrm>
            <a:off x="4732146" y="3182112"/>
            <a:ext cx="68582" cy="68580"/>
          </a:xfrm>
          <a:prstGeom prst="ellipse">
            <a:avLst/>
          </a:prstGeom>
          <a:solidFill>
            <a:srgbClr val="342378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4889884" y="3120390"/>
            <a:ext cx="32233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Customers view — per-account drill-down, score chart, decision-makers</a:t>
            </a:r>
            <a:endParaRPr sz="1100"/>
          </a:p>
        </p:txBody>
      </p:sp>
      <p:sp>
        <p:nvSpPr>
          <p:cNvPr id="272" name="Google Shape;272;p30"/>
          <p:cNvSpPr/>
          <p:nvPr/>
        </p:nvSpPr>
        <p:spPr>
          <a:xfrm>
            <a:off x="4732146" y="3765042"/>
            <a:ext cx="68582" cy="68580"/>
          </a:xfrm>
          <a:prstGeom prst="ellipse">
            <a:avLst/>
          </a:prstGeom>
          <a:solidFill>
            <a:srgbClr val="342378"/>
          </a:solidFill>
          <a:ln>
            <a:solid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4889884" y="3703320"/>
            <a:ext cx="3223346" cy="48006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Manual research path for decision-makers via Claude prompt</a:t>
            </a:r>
            <a:endParaRPr sz="1100"/>
          </a:p>
        </p:txBody>
      </p:sp>
      <p:sp>
        <p:nvSpPr>
          <p:cNvPr id="274" name="Google Shape;274;p30"/>
          <p:cNvSpPr txBox="1"/>
          <p:nvPr/>
        </p:nvSpPr>
        <p:spPr>
          <a:xfrm>
            <a:off x="411491" y="4855464"/>
            <a:ext cx="4114910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Gaia ARR Growth Agent</a:t>
            </a:r>
            <a:endParaRPr sz="1100"/>
          </a:p>
        </p:txBody>
      </p:sp>
      <p:sp>
        <p:nvSpPr>
          <p:cNvPr id="275" name="Google Shape;275;p30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solid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5422FF"/>
                </a:solidFill>
                <a:latin typeface="Calibri"/>
              </a:rPr>
              <a:t>CRITERION 1 — FITS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C153E"/>
                </a:solidFill>
                <a:latin typeface="Calibri"/>
              </a:rPr>
              <a:t>Agents decide; every signal is an API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D5A72"/>
                </a:solidFill>
                <a:latin typeface="Calibri"/>
              </a:rPr>
              <a:t>Not a dashboard with an LLM bolted on — the deciding is done by agents, and the data is all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55464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Gaia ARR Growth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9344"/>
            <a:ext cx="7955279" cy="649224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09344"/>
            <a:ext cx="82296" cy="649224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700784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Agentic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1700784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A daily agent runs unattended and judges which stories are real events. Over MCP, an agent chooses which accounts to examine — surveying 13, drilling into 2–3.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86584"/>
            <a:ext cx="7955279" cy="649224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386584"/>
            <a:ext cx="82296" cy="649224"/>
          </a:xfrm>
          <a:prstGeom prst="rect">
            <a:avLst/>
          </a:prstGeom>
          <a:solidFill>
            <a:srgbClr val="15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478024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API-first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2478024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Scores, history and third-party supplier risk all come from SecurityScorecard APIs. No SSC frontend is involved anywhere in the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63824"/>
            <a:ext cx="7955279" cy="649224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163824"/>
            <a:ext cx="82296" cy="649224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255264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No UI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255264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An MCP server exposes the same four portfolio tools to any MCP client, so a CSM can work the whole portfolio from Claude Desktop with no interface of ours at 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41063"/>
            <a:ext cx="7955279" cy="649224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941063"/>
            <a:ext cx="82296" cy="649224"/>
          </a:xfrm>
          <a:prstGeom prst="rect">
            <a:avLst/>
          </a:prstGeom>
          <a:solidFill>
            <a:srgbClr val="5D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32503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Workflow reimagined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4032503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Before: a CSM opens each account and hunts for a reason to call. After: the reason finds them, with the email already drafted and the source article attached.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5422FF"/>
                </a:solidFill>
                <a:latin typeface="Calibri"/>
              </a:rPr>
              <a:t>CRITERION 2 — PRACTICALITY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C153E"/>
                </a:solidFill>
                <a:latin typeface="Calibri"/>
              </a:rPr>
              <a:t>Built to save the hours CSMs already 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D5A72"/>
                </a:solidFill>
                <a:latin typeface="Calibri"/>
              </a:rPr>
              <a:t>SMART goal: cut weekly portfolio review from a half-day sweep to a 25-minute pass, per CSM.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55464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Gaia ARR Growth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1872234" cy="960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673352"/>
            <a:ext cx="1616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422FF"/>
                </a:solidFill>
                <a:latin typeface="Calibri"/>
              </a:rPr>
              <a:t>15 → 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121408"/>
            <a:ext cx="161620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D5A72"/>
                </a:solidFill>
                <a:latin typeface="Calibri"/>
              </a:rPr>
              <a:t>per account reviewed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9162" y="1554480"/>
            <a:ext cx="1872234" cy="960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7178" y="1673352"/>
            <a:ext cx="1616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58A5E"/>
                </a:solidFill>
                <a:latin typeface="Calibri"/>
              </a:rPr>
              <a:t>~169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7178" y="2121408"/>
            <a:ext cx="161620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D5A72"/>
                </a:solidFill>
                <a:latin typeface="Calibri"/>
              </a:rPr>
              <a:t>saved per weekly sweep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6844" y="1554480"/>
            <a:ext cx="1872234" cy="960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4859" y="1673352"/>
            <a:ext cx="1616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98E2B"/>
                </a:solidFill>
                <a:latin typeface="Calibri"/>
              </a:rPr>
              <a:t>~146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859" y="2121408"/>
            <a:ext cx="161620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D5A72"/>
                </a:solidFill>
                <a:latin typeface="Calibri"/>
              </a:rPr>
              <a:t>per CSM per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4526" y="1554480"/>
            <a:ext cx="1872234" cy="960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2542" y="1673352"/>
            <a:ext cx="1616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C153E"/>
                </a:solidFill>
                <a:latin typeface="Calibri"/>
              </a:rPr>
              <a:t>38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2542" y="2121408"/>
            <a:ext cx="161620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D5A72"/>
                </a:solidFill>
                <a:latin typeface="Calibri"/>
              </a:rPr>
              <a:t>surfaced across 13 live accounts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43200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743200"/>
            <a:ext cx="82296" cy="566928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834640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Specific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2834640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One board replaces checking score, usage, supplier risk and news account by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01568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401568"/>
            <a:ext cx="82296" cy="566928"/>
          </a:xfrm>
          <a:prstGeom prst="rect">
            <a:avLst/>
          </a:prstGeom>
          <a:solidFill>
            <a:srgbClr val="15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493008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Measurable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3493008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13 accounts × 38 signals today; the daily research pass completes in under 5 minutes unattended.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59935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059935"/>
            <a:ext cx="82296" cy="566928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151375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Quality of life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4151375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The unglamorous part — hunting for a reason to make contact — is the part that disappears.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64515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Time figures are a stated model: 15 min manual review vs 2 min to action a pre-drafted card, across 13 accounts, reviewed weekly.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5422FF"/>
                </a:solidFill>
                <a:latin typeface="Calibri"/>
              </a:rPr>
              <a:t>CRITERION 3 — BUSINESS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C153E"/>
                </a:solidFill>
                <a:latin typeface="Calibri"/>
              </a:rPr>
              <a:t>Four ways this grows SecurityScorecard 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D5A72"/>
                </a:solidFill>
                <a:latin typeface="Calibri"/>
              </a:rPr>
              <a:t>For the customer, earlier warning. For the company, more upsell conversations, better timed.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55464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Gaia ARR Growth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72768"/>
            <a:ext cx="1911095" cy="2103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72768"/>
            <a:ext cx="1911095" cy="54864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16093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More upsell conversations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31136"/>
            <a:ext cx="1609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D5A72"/>
                </a:solidFill>
                <a:latin typeface="Calibri"/>
              </a:rPr>
              <a:t>Every account gets reviewed every week instead of the loudest ones. Signals that used to expire unnoticed now reach the CSM who owns the account.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572768"/>
            <a:ext cx="1911095" cy="2103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1572768"/>
            <a:ext cx="1911095" cy="54864"/>
          </a:xfrm>
          <a:prstGeom prst="rect">
            <a:avLst/>
          </a:prstGeom>
          <a:solidFill>
            <a:srgbClr val="15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783080"/>
            <a:ext cx="16093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Better-timed outreach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231136"/>
            <a:ext cx="1609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D5A72"/>
                </a:solidFill>
                <a:latin typeface="Calibri"/>
              </a:rPr>
              <a:t>Contact lands while the acquisition or launch is still news, which is when expanding coverage is an easy yes rather than a cold 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1572768"/>
            <a:ext cx="1911095" cy="2103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08576" y="1572768"/>
            <a:ext cx="1911095" cy="54864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1783080"/>
            <a:ext cx="16093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Retention through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2231136"/>
            <a:ext cx="1609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D5A72"/>
                </a:solidFill>
                <a:latin typeface="Calibri"/>
              </a:rPr>
              <a:t>Score improvements and early supplier warnings become renewal evidence the customer can see, lowering churn risk at exactly the right moment.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1696" y="1572768"/>
            <a:ext cx="1911095" cy="2103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11696" y="1572768"/>
            <a:ext cx="1911095" cy="54864"/>
          </a:xfrm>
          <a:prstGeom prst="rect">
            <a:avLst/>
          </a:prstGeom>
          <a:solidFill>
            <a:srgbClr val="5D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67144" y="1783080"/>
            <a:ext cx="16093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Capacity, not headcount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2231136"/>
            <a:ext cx="1609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D5A72"/>
                </a:solidFill>
                <a:latin typeface="Calibri"/>
              </a:rPr>
              <a:t>A CSM covers more accounts at the same quality, so portfolio growth doesn't require proportional hiring.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40480"/>
            <a:ext cx="7955279" cy="64008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840480"/>
            <a:ext cx="82296" cy="640080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931920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Path to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3931920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Every gap is a connection, not a rebuild: usage feed → 4 more triggers live; Salesforce → CRM data and meeting triggers; Titan API swaps behind one module.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590288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ARR per upsell depends on Titan Watch → Titan MAX pricing, which the team should insert before presenting.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5422FF"/>
                </a:solidFill>
                <a:latin typeface="Calibri"/>
              </a:rPr>
              <a:t>CRITERION 4 — TOKEN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C153E"/>
                </a:solidFill>
                <a:latin typeface="Calibri"/>
              </a:rPr>
              <a:t>Survey cheaply, then drill selectively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D5A72"/>
                </a:solidFill>
                <a:latin typeface="Calibri"/>
              </a:rPr>
              <a:t>Token cost is measured through the API and reported in the response, not estimated.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55464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Gaia ARR Growth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1872234" cy="960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673352"/>
            <a:ext cx="1616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5422FF"/>
                </a:solidFill>
                <a:latin typeface="Calibri"/>
              </a:rPr>
              <a:t>~4.4k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121408"/>
            <a:ext cx="161620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D5A72"/>
                </a:solidFill>
                <a:latin typeface="Calibri"/>
              </a:rPr>
              <a:t>tokens per portfolio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9162" y="1554480"/>
            <a:ext cx="1872234" cy="960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7178" y="1673352"/>
            <a:ext cx="1616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58A5E"/>
                </a:solidFill>
                <a:latin typeface="Calibri"/>
              </a:rPr>
              <a:t>~5.2k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7178" y="2121408"/>
            <a:ext cx="161620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D5A72"/>
                </a:solidFill>
                <a:latin typeface="Calibri"/>
              </a:rPr>
              <a:t>tokens per daily briefing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6844" y="1554480"/>
            <a:ext cx="1872234" cy="960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4859" y="1673352"/>
            <a:ext cx="1616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98E2B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859" y="2121408"/>
            <a:ext cx="161620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D5A72"/>
                </a:solidFill>
                <a:latin typeface="Calibri"/>
              </a:rPr>
              <a:t>tools, each returning a minimal shape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4526" y="1554480"/>
            <a:ext cx="1872234" cy="960120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2542" y="1673352"/>
            <a:ext cx="1616201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C153E"/>
                </a:solidFill>
                <a:latin typeface="Calibri"/>
              </a:rPr>
              <a:t>gpt-4o-mini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2542" y="2121408"/>
            <a:ext cx="161620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D5A72"/>
                </a:solidFill>
                <a:latin typeface="Calibri"/>
              </a:rPr>
              <a:t>low-cost model, no frontier spend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43200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743200"/>
            <a:ext cx="82296" cy="566928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834640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Two-pass discipline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2834640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list_customers returns one compact line per account; only 2–3 then get a detail call.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01568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401568"/>
            <a:ext cx="82296" cy="566928"/>
          </a:xfrm>
          <a:prstGeom prst="rect">
            <a:avLst/>
          </a:prstGeom>
          <a:solidFill>
            <a:srgbClr val="15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3493008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No redundant payloads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3493008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News extraction reads headlines only — never article bodies — and pseudonymisation replaces names with short tokens.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59935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059935"/>
            <a:ext cx="82296" cy="566928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151375"/>
            <a:ext cx="20574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C153E"/>
                </a:solidFill>
                <a:latin typeface="Calibri"/>
              </a:rPr>
              <a:t>Specific instructions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4151375"/>
            <a:ext cx="542239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5D5A72"/>
                </a:solidFill>
                <a:latin typeface="Calibri"/>
              </a:rPr>
              <a:t>The same survey-then-drill rule ships in the MCP server, so connected clients are efficient too.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64515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Measured from the /agent/chat response, which reports token usage per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5422FF"/>
                </a:solidFill>
                <a:latin typeface="Calibri"/>
              </a:rPr>
              <a:t>CRITERION 5 — WOW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C153E"/>
                </a:solidFill>
                <a:latin typeface="Calibri"/>
              </a:rPr>
              <a:t>A live demo, on real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D5A72"/>
                </a:solidFill>
                <a:latin typeface="Calibri"/>
              </a:rPr>
              <a:t>Manual review versus the automated pass, measured on the same 13 accounts.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55464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Gaia ARR Growth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D5A72"/>
                </a:solidFill>
                <a:latin typeface="Calibri"/>
              </a:rPr>
              <a:t>11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536192"/>
          <a:ext cx="434340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956048" y="1536192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160020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153E"/>
                </a:solidFill>
                <a:latin typeface="Calibri"/>
              </a:rPr>
              <a:t>1.  The board,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1792224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38 signals, 13 real accounts, every card tagged.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2084831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148839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153E"/>
                </a:solidFill>
                <a:latin typeface="Calibri"/>
              </a:rPr>
              <a:t>2.  One click to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340863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Drafted email, right recipient, article attached.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2633472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2697479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153E"/>
                </a:solidFill>
                <a:latin typeface="Calibri"/>
              </a:rPr>
              <a:t>3.  It ran by itself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889504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13 accounts researched today, unattended.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3182111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3246119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153E"/>
                </a:solidFill>
                <a:latin typeface="Calibri"/>
              </a:rPr>
              <a:t>4.  What we haven't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438144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All 23 triggers, each naming the data it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3730752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379476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153E"/>
                </a:solidFill>
                <a:latin typeface="Calibri"/>
              </a:rPr>
              <a:t>5.  No UI at 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3986784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The same tools, answering live over MCP.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407408"/>
            <a:ext cx="7955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422FF"/>
                </a:solidFill>
                <a:latin typeface="Calibri"/>
              </a:rPr>
              <a:t>Presented by the engineers who built it — live against the real portfolio, not a recording.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645152"/>
            <a:ext cx="7955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D5A72"/>
                </a:solidFill>
                <a:latin typeface="Calibri"/>
              </a:rPr>
              <a:t>Stated model, per account: 9 min finding a trigger, 4 min drafting, 2 min reviewing — across 13 accounts. Total 195 min manual vs 26 min with Gaia.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