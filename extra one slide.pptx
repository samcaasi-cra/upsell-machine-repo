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2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78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3" name="Google Shape;133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4" name="Google Shape;13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7" name="Google Shape;13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" name="Google Shape;14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" name="Google Shape;14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2" name="Google Shape;152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3" name="Google Shape;15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6" name="Google Shape;15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0" name="Google Shape;160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1" name="Google Shape;161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2" name="Google Shape;16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65" name="Google Shape;16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8" name="Google Shape;168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9" name="Google Shape;16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6" name="Google Shape;436;p49"/>
          <p:cNvSpPr/>
          <p:nvPr/>
        </p:nvSpPr>
        <p:spPr>
          <a:xfrm>
            <a:off x="0" y="0"/>
            <a:ext cx="9144000" cy="513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9"/>
          <p:cNvSpPr/>
          <p:nvPr/>
        </p:nvSpPr>
        <p:spPr>
          <a:xfrm>
            <a:off x="411480" y="374904"/>
            <a:ext cx="63900" cy="21960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9"/>
          <p:cNvSpPr txBox="1"/>
          <p:nvPr/>
        </p:nvSpPr>
        <p:spPr>
          <a:xfrm>
            <a:off x="566928" y="329184"/>
            <a:ext cx="4114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BUSINESS POTENTIAL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9"/>
          <p:cNvSpPr txBox="1"/>
          <p:nvPr/>
        </p:nvSpPr>
        <p:spPr>
          <a:xfrm>
            <a:off x="411480" y="621792"/>
            <a:ext cx="7891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GB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An extra $30M ARR per year for SecurityScorecard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9"/>
          <p:cNvSpPr txBox="1"/>
          <p:nvPr/>
        </p:nvSpPr>
        <p:spPr>
          <a:xfrm>
            <a:off x="411480" y="1060704"/>
            <a:ext cx="781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ARR = $300,000,000 × 10% = +$30,000,000 per year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9"/>
          <p:cNvSpPr txBox="1"/>
          <p:nvPr/>
        </p:nvSpPr>
        <p:spPr>
          <a:xfrm>
            <a:off x="8229600" y="4855464"/>
            <a:ext cx="484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9"/>
          <p:cNvSpPr/>
          <p:nvPr/>
        </p:nvSpPr>
        <p:spPr>
          <a:xfrm>
            <a:off x="411480" y="1554480"/>
            <a:ext cx="2518466" cy="960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9"/>
          <p:cNvSpPr txBox="1"/>
          <p:nvPr/>
        </p:nvSpPr>
        <p:spPr>
          <a:xfrm>
            <a:off x="539496" y="1673352"/>
            <a:ext cx="2262434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$15M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9"/>
          <p:cNvSpPr txBox="1"/>
          <p:nvPr/>
        </p:nvSpPr>
        <p:spPr>
          <a:xfrm>
            <a:off x="539496" y="2121408"/>
            <a:ext cx="2262434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Titan Watch → Titan MAX upsell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9"/>
          <p:cNvSpPr/>
          <p:nvPr/>
        </p:nvSpPr>
        <p:spPr>
          <a:xfrm>
            <a:off x="3129946" y="1554480"/>
            <a:ext cx="2518466" cy="960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9"/>
          <p:cNvSpPr txBox="1"/>
          <p:nvPr/>
        </p:nvSpPr>
        <p:spPr>
          <a:xfrm>
            <a:off x="3257962" y="1673352"/>
            <a:ext cx="2262434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158A5E"/>
                </a:solidFill>
                <a:latin typeface="Calibri"/>
                <a:ea typeface="Calibri"/>
                <a:cs typeface="Calibri"/>
                <a:sym typeface="Calibri"/>
              </a:rPr>
              <a:t>$10M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9"/>
          <p:cNvSpPr txBox="1"/>
          <p:nvPr/>
        </p:nvSpPr>
        <p:spPr>
          <a:xfrm>
            <a:off x="3257962" y="2121408"/>
            <a:ext cx="2262434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Renewal rate: 78% → 85%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49"/>
          <p:cNvSpPr/>
          <p:nvPr/>
        </p:nvSpPr>
        <p:spPr>
          <a:xfrm>
            <a:off x="5848412" y="1554480"/>
            <a:ext cx="2518466" cy="960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9"/>
          <p:cNvSpPr txBox="1"/>
          <p:nvPr/>
        </p:nvSpPr>
        <p:spPr>
          <a:xfrm>
            <a:off x="5976428" y="1673352"/>
            <a:ext cx="2262434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D98E2B"/>
                </a:solidFill>
                <a:latin typeface="Calibri"/>
                <a:ea typeface="Calibri"/>
                <a:cs typeface="Calibri"/>
                <a:sym typeface="Calibri"/>
              </a:rPr>
              <a:t>$5M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9"/>
          <p:cNvSpPr txBox="1"/>
          <p:nvPr/>
        </p:nvSpPr>
        <p:spPr>
          <a:xfrm>
            <a:off x="5976428" y="2121408"/>
            <a:ext cx="2262434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CSM time saved, redeployed to outreach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9"/>
          <p:cNvSpPr/>
          <p:nvPr/>
        </p:nvSpPr>
        <p:spPr>
          <a:xfrm>
            <a:off x="411480" y="2743200"/>
            <a:ext cx="7955400" cy="567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9"/>
          <p:cNvSpPr/>
          <p:nvPr/>
        </p:nvSpPr>
        <p:spPr>
          <a:xfrm>
            <a:off x="411480" y="2743200"/>
            <a:ext cx="82200" cy="56700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9"/>
          <p:cNvSpPr txBox="1"/>
          <p:nvPr/>
        </p:nvSpPr>
        <p:spPr>
          <a:xfrm>
            <a:off x="649224" y="2834640"/>
            <a:ext cx="2057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Upsell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9"/>
          <p:cNvSpPr txBox="1"/>
          <p:nvPr/>
        </p:nvSpPr>
        <p:spPr>
          <a:xfrm>
            <a:off x="2816352" y="2834640"/>
            <a:ext cx="542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GB" sz="11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Existing Titan Watch accounts convert to Titan MAX at renewal -- the core motion this hack automates.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49"/>
          <p:cNvSpPr/>
          <p:nvPr/>
        </p:nvSpPr>
        <p:spPr>
          <a:xfrm>
            <a:off x="411480" y="3401568"/>
            <a:ext cx="7955400" cy="567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9"/>
          <p:cNvSpPr/>
          <p:nvPr/>
        </p:nvSpPr>
        <p:spPr>
          <a:xfrm>
            <a:off x="411480" y="3401568"/>
            <a:ext cx="82200" cy="567000"/>
          </a:xfrm>
          <a:prstGeom prst="rect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9"/>
          <p:cNvSpPr txBox="1"/>
          <p:nvPr/>
        </p:nvSpPr>
        <p:spPr>
          <a:xfrm>
            <a:off x="649224" y="3493008"/>
            <a:ext cx="2057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Renewal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9"/>
          <p:cNvSpPr txBox="1"/>
          <p:nvPr/>
        </p:nvSpPr>
        <p:spPr>
          <a:xfrm>
            <a:off x="2816352" y="3493008"/>
            <a:ext cx="542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GB" sz="11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 7-point renewal-rate gain (78% → 85%) retains ARR that would otherwise churn at contract end.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9"/>
          <p:cNvSpPr/>
          <p:nvPr/>
        </p:nvSpPr>
        <p:spPr>
          <a:xfrm>
            <a:off x="411480" y="4059935"/>
            <a:ext cx="7955400" cy="567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9"/>
          <p:cNvSpPr/>
          <p:nvPr/>
        </p:nvSpPr>
        <p:spPr>
          <a:xfrm>
            <a:off x="411480" y="4059935"/>
            <a:ext cx="82200" cy="567000"/>
          </a:xfrm>
          <a:prstGeom prst="rect">
            <a:avLst/>
          </a:prstGeom>
          <a:solidFill>
            <a:srgbClr val="D9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9"/>
          <p:cNvSpPr txBox="1"/>
          <p:nvPr/>
        </p:nvSpPr>
        <p:spPr>
          <a:xfrm>
            <a:off x="649224" y="4151375"/>
            <a:ext cx="2057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Capacity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9"/>
          <p:cNvSpPr txBox="1"/>
          <p:nvPr/>
        </p:nvSpPr>
        <p:spPr>
          <a:xfrm>
            <a:off x="2816352" y="4151375"/>
            <a:ext cx="542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GB" sz="11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Time saved per CSM (146 hrs/year) is redeployed into the upsell conversations this hack surfaces.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9"/>
          <p:cNvSpPr txBox="1"/>
          <p:nvPr/>
        </p:nvSpPr>
        <p:spPr>
          <a:xfrm>
            <a:off x="411480" y="4645152"/>
            <a:ext cx="79554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GB" sz="8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Illustrative allocation of the +$30,000,000 target across three levers, sized against the $300,000,000 ARR base — a stated model, not a forecast.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