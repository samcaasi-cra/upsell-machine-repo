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77" r:id="rId29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e1c8d80e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6e1c8d80e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e1c8d80e_3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6e1c8d80e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6e1c8d80e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f6e1c8d80e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e1c8d80e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f6e1c8d80e_2_8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6e1c8d80e_3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f6e1c8d80e_3_3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6e1c8d80e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f6e1c8d80e_0_21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6e1c8d80e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g3f6e1c8d80e_6_6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6e1c8d80e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g3f6e1c8d80e_2_11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6e1c8d80e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3f6e1c8d80e_2_13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6e1c8d80e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g3f6e1c8d80e_2_16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6e1c8d80e_2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g3f6e1c8d80e_2_19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f6e1c8d80e_2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f6e1c8d80e_2_26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6e1c8d80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g3f6e1c8d80e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6e1c8d80e_5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9" name="Google Shape;469;g3f6e1c8d80e_5_20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6e1c8d80e_6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f6e1c8d80e_6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f6e1c8d80e_5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1" name="Google Shape;521;g3f6e1c8d80e_5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6e1c8d80e_5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6" name="Google Shape;556;g3f6e1c8d80e_5_28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6e1c8d80e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g3f6e1c8d80e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f6e1c8d80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f6e1c8d80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f6e1c8d80e_2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f6e1c8d80e_2_3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f6e1c8d80e_2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f6e1c8d80e_2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3" name="Google Shape;133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4" name="Google Shape;13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7" name="Google Shape;13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2" name="Google Shape;152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3" name="Google Shape;15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6" name="Google Shape;15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60" name="Google Shape;160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1" name="Google Shape;161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2" name="Google Shape;16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65" name="Google Shape;16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8" name="Google Shape;168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9" name="Google Shape;16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/>
        </p:nvSpPr>
        <p:spPr>
          <a:xfrm>
            <a:off x="525900" y="334350"/>
            <a:ext cx="8092200" cy="54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Instructions</a:t>
            </a:r>
            <a:r>
              <a:rPr b="1" lang="en-GB" sz="1200"/>
              <a:t> for each team leader: Use this checklist to </a:t>
            </a:r>
            <a:r>
              <a:rPr b="1" lang="en-GB" sz="1200"/>
              <a:t>maximize your score - (mark in green to show that your presentation has all of them)</a:t>
            </a:r>
            <a:endParaRPr b="1" sz="1200"/>
          </a:p>
          <a:p>
            <a:pPr indent="-285750" lvl="0" marL="596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900"/>
              <a:buChar char="●"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Fits theme: is it genuinely agentic and API-first, reimagining a real workflow? 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00FF00"/>
                </a:highlight>
              </a:rPr>
              <a:t>Agentic - include specific points how your hack is agentic (Agentic AI is AI that has agency, that is, able to act </a:t>
            </a:r>
            <a:r>
              <a:rPr lang="en-GB" sz="900">
                <a:solidFill>
                  <a:srgbClr val="222222"/>
                </a:solidFill>
                <a:highlight>
                  <a:srgbClr val="00FF00"/>
                </a:highlight>
              </a:rPr>
              <a:t>on its own - to some degree)</a:t>
            </a:r>
            <a:endParaRPr sz="900">
              <a:solidFill>
                <a:srgbClr val="222222"/>
              </a:solidFill>
              <a:highlight>
                <a:srgbClr val="00FF00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FFFF00"/>
                </a:highlight>
              </a:rPr>
              <a:t>Agentic AI - presentation must include image of your Agentic AI workflow that might look like this:</a:t>
            </a:r>
            <a:endParaRPr sz="900">
              <a:solidFill>
                <a:srgbClr val="222222"/>
              </a:solidFill>
              <a:highlight>
                <a:srgbClr val="FFFF00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</a:rPr>
              <a:t>API first: include the names of </a:t>
            </a:r>
            <a:r>
              <a:rPr lang="en-GB" sz="900">
                <a:solidFill>
                  <a:srgbClr val="222222"/>
                </a:solidFill>
              </a:rPr>
              <a:t>at least</a:t>
            </a:r>
            <a:r>
              <a:rPr lang="en-GB" sz="900">
                <a:solidFill>
                  <a:srgbClr val="222222"/>
                </a:solidFill>
              </a:rPr>
              <a:t> 3 APIs used in your hack </a:t>
            </a:r>
            <a:endParaRPr sz="900">
              <a:solidFill>
                <a:srgbClr val="222222"/>
              </a:solidFill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00FF00"/>
                </a:highlight>
              </a:rPr>
              <a:t>Reimagining a real workflow</a:t>
            </a:r>
            <a:endParaRPr sz="900">
              <a:solidFill>
                <a:srgbClr val="222222"/>
              </a:solidFill>
              <a:highlight>
                <a:srgbClr val="00FF00"/>
              </a:highlight>
            </a:endParaRPr>
          </a:p>
          <a:p>
            <a:pPr indent="-2857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●"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Practicality / usefulness: does it solve a real customer problem? 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Include elements of our SMART goal, for example: how it's </a:t>
            </a:r>
            <a:r>
              <a:rPr lang="en-GB" sz="900">
                <a:solidFill>
                  <a:srgbClr val="222222"/>
                </a:solidFill>
                <a:highlight>
                  <a:srgbClr val="00FF00"/>
                </a:highlight>
              </a:rPr>
              <a:t>specific, measurable</a:t>
            </a: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, what it's trying to achieve, </a:t>
            </a:r>
            <a:r>
              <a:rPr lang="en-GB" sz="900">
                <a:solidFill>
                  <a:srgbClr val="222222"/>
                </a:solidFill>
                <a:highlight>
                  <a:srgbClr val="00FF00"/>
                </a:highlight>
              </a:rPr>
              <a:t>time saved</a:t>
            </a: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, etc.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chemeClr val="lt1"/>
                </a:highlight>
              </a:rPr>
              <a:t>Reference the customer benefit in the format the time that the customer will save. Eg customer will save X minutes per month for a total of X person days across 3000 customers per year.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B6D7A8"/>
                </a:highlight>
              </a:rPr>
              <a:t>How many minutes will it save per customer? How many times will the customer use it? - </a:t>
            </a:r>
            <a:r>
              <a:rPr lang="en-GB" sz="900">
                <a:solidFill>
                  <a:srgbClr val="222222"/>
                </a:solidFill>
                <a:highlight>
                  <a:srgbClr val="B6D7A8"/>
                </a:highlight>
              </a:rPr>
              <a:t>Slide 8</a:t>
            </a:r>
            <a:endParaRPr sz="900">
              <a:solidFill>
                <a:srgbClr val="222222"/>
              </a:solidFill>
              <a:highlight>
                <a:srgbClr val="B6D7A8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ARR: How will we increase their revenue, how much money will they save? Slides must state the ARR to SSC with a formula ARR = $300,000,000 x X% (where X% is increase in annual revenues the hack could deliver).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Every team should state: We think this automation will increase annual working revenues for SecurityScorecard in the following ways.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00FF00"/>
                </a:highlight>
              </a:rPr>
              <a:t>How it will improve quality of life.</a:t>
            </a:r>
            <a:endParaRPr sz="900">
              <a:solidFill>
                <a:srgbClr val="222222"/>
              </a:solidFill>
              <a:highlight>
                <a:srgbClr val="00FF00"/>
              </a:highlight>
            </a:endParaRPr>
          </a:p>
          <a:p>
            <a:pPr indent="-2857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●"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Business Potential: impact to customer and company; path to production.</a:t>
            </a:r>
            <a:r>
              <a:rPr lang="en-GB" sz="900">
                <a:solidFill>
                  <a:srgbClr val="222222"/>
                </a:solidFill>
                <a:highlight>
                  <a:srgbClr val="FFFF00"/>
                </a:highlight>
              </a:rPr>
              <a:t> </a:t>
            </a:r>
            <a:endParaRPr sz="900">
              <a:solidFill>
                <a:srgbClr val="222222"/>
              </a:solidFill>
              <a:highlight>
                <a:srgbClr val="FFFF00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FFFF00"/>
                </a:highlight>
              </a:rPr>
              <a:t>Impact on the customer</a:t>
            </a: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 an</a:t>
            </a:r>
            <a:r>
              <a:rPr lang="en-GB" sz="900">
                <a:solidFill>
                  <a:srgbClr val="222222"/>
                </a:solidFill>
                <a:highlight>
                  <a:srgbClr val="00FF00"/>
                </a:highlight>
              </a:rPr>
              <a:t>d impact on the company</a:t>
            </a: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 - Slide 10?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Annual recurring revenue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B6D7A8"/>
                </a:highlight>
              </a:rPr>
              <a:t>Path to production - </a:t>
            </a:r>
            <a:r>
              <a:rPr lang="en-GB" sz="900">
                <a:solidFill>
                  <a:srgbClr val="222222"/>
                </a:solidFill>
                <a:highlight>
                  <a:srgbClr val="B6D7A8"/>
                </a:highlight>
              </a:rPr>
              <a:t>Slide 9 and 10</a:t>
            </a:r>
            <a:endParaRPr sz="900">
              <a:solidFill>
                <a:srgbClr val="222222"/>
              </a:solidFill>
              <a:highlight>
                <a:srgbClr val="B6D7A8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FF0000"/>
                </a:highlight>
              </a:rPr>
              <a:t>Gant Chart</a:t>
            </a:r>
            <a:endParaRPr sz="900">
              <a:solidFill>
                <a:srgbClr val="222222"/>
              </a:solidFill>
              <a:highlight>
                <a:srgbClr val="FF0000"/>
              </a:highlight>
            </a:endParaRPr>
          </a:p>
          <a:p>
            <a:pPr indent="-2857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●"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Token Efficiency: how lean is the workflow with its token/context usage? This is for judges to gauge how feasible the workflow would be running on low-cost models. 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00FF00"/>
                </a:highlight>
              </a:rPr>
              <a:t>Use API to calculate token cost</a:t>
            </a:r>
            <a:endParaRPr sz="900">
              <a:solidFill>
                <a:srgbClr val="222222"/>
              </a:solidFill>
              <a:highlight>
                <a:srgbClr val="00FF00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Reduce redundancy and make instructions specific.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857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●"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Wow Factor: impressiveness and polish. 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Make presentation dynamic, not static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Have a strong demo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Compare manual workflow vs automated, include bar charts and metrics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ARR for SecurityScorecard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85750" lvl="1" marL="1054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Char char="○"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Bring presenters who will demonstrate enthusiasm and energy, engineers should also be part of the presentation</a:t>
            </a:r>
            <a:endParaRPr sz="1200"/>
          </a:p>
        </p:txBody>
      </p:sp>
      <p:sp>
        <p:nvSpPr>
          <p:cNvPr id="175" name="Google Shape;175;p37"/>
          <p:cNvSpPr txBox="1"/>
          <p:nvPr/>
        </p:nvSpPr>
        <p:spPr>
          <a:xfrm>
            <a:off x="10989150" y="6187075"/>
            <a:ext cx="2761200" cy="29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Project 5:</a:t>
            </a:r>
            <a:b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</a:b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Initiate sales motion on the best signal detected by the AI</a:t>
            </a:r>
            <a:b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</a:b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The dashboard is NOT the output, it shows WHAT the AI can do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Dashboard is for the csm, customer might look at a version of the dashboard as well</a:t>
            </a:r>
            <a:endParaRPr sz="9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Ex. Acme wants to know justifying buying more, what should they show to their colleagues, subset of alerts can be presented: company bought another organization, so think about increasing slots to cover suppliers, CIO has just published a presentation about risks to your firms, and other news</a:t>
            </a:r>
            <a:b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</a:br>
            <a:r>
              <a:rPr lang="en-GB" sz="900">
                <a:solidFill>
                  <a:srgbClr val="222222"/>
                </a:solidFill>
                <a:highlight>
                  <a:srgbClr val="FFFFFF"/>
                </a:highlight>
              </a:rPr>
              <a:t>Same way CSMs should know about the news about their customers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6" name="Google Shape;17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1650" y="1242350"/>
            <a:ext cx="1286477" cy="70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8"/>
          <p:cNvSpPr txBox="1"/>
          <p:nvPr/>
        </p:nvSpPr>
        <p:spPr>
          <a:xfrm>
            <a:off x="1093625" y="486050"/>
            <a:ext cx="68352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-GB" sz="1800">
                <a:solidFill>
                  <a:schemeClr val="dk2"/>
                </a:solidFill>
              </a:rPr>
              <a:t>Feedback from call with Lucas Del Pozzi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●"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</a:rPr>
              <a:t>It looks great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●"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</a:rPr>
              <a:t>Renewal rate was 78% last year, Lucas to include churn risk signals (underutilisation or been acquired), CSMs typically only realise a month before renewal date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●"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</a:rPr>
              <a:t>SSC currently don’t look at if a company is acquired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●"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</a:rPr>
              <a:t>Salesforce API should mentioned to pull renewal date and any discount customers are receiving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○"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</a:rPr>
              <a:t>Even just assumption, not live integration 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●"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</a:rPr>
              <a:t>Lucas to provide us permissions to API intranet, portfolio usage, logins, questionnaires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○"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</a:rPr>
              <a:t>Or just list the logins will come from the intranet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●"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</a:rPr>
              <a:t>We can use the data from the </a:t>
            </a: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</a:rPr>
              <a:t>Apes.ar domain for our presentation</a:t>
            </a: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●"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</a:rPr>
              <a:t>Questionnaire usage and expiry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●"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</a:rPr>
              <a:t>What they purchased last year and discounts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Char char="●"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1C153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9"/>
          <p:cNvSpPr/>
          <p:nvPr/>
        </p:nvSpPr>
        <p:spPr>
          <a:xfrm>
            <a:off x="0" y="4526280"/>
            <a:ext cx="9144015" cy="41148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9"/>
          <p:cNvSpPr txBox="1"/>
          <p:nvPr/>
        </p:nvSpPr>
        <p:spPr>
          <a:xfrm>
            <a:off x="617225" y="933725"/>
            <a:ext cx="7813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lang="en-GB" sz="4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 AI Growth Automation </a:t>
            </a:r>
            <a:endParaRPr b="1" sz="4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lang="en-GB" sz="4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deliver $30M ARR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9"/>
          <p:cNvSpPr txBox="1"/>
          <p:nvPr/>
        </p:nvSpPr>
        <p:spPr>
          <a:xfrm>
            <a:off x="617224" y="2415200"/>
            <a:ext cx="75312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An AI agent that helps </a:t>
            </a:r>
            <a:r>
              <a:rPr lang="en-GB" sz="1600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customers and CSMs</a:t>
            </a:r>
            <a:r>
              <a:rPr b="0" i="0" lang="en-GB" sz="1600" u="none" cap="none" strike="noStrike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 increase spend with SSC by $</a:t>
            </a:r>
            <a:r>
              <a:rPr lang="en-GB" sz="1600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30M</a:t>
            </a:r>
            <a:r>
              <a:rPr b="0" i="0" lang="en-GB" sz="1600" u="none" cap="none" strike="noStrike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 ARR by proactively</a:t>
            </a:r>
            <a:r>
              <a:rPr lang="en-GB" sz="1600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600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acting</a:t>
            </a:r>
            <a:r>
              <a:rPr lang="en-GB" sz="1600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 on the best “I’m ready to buy” </a:t>
            </a:r>
            <a:r>
              <a:rPr b="0" i="0" lang="en-GB" sz="1600" u="none" cap="none" strike="noStrike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signals across </a:t>
            </a:r>
            <a:r>
              <a:rPr lang="en-GB" sz="1600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SSC</a:t>
            </a:r>
            <a:r>
              <a:rPr b="0" i="0" lang="en-GB" sz="1600" u="none" cap="none" strike="noStrike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 APIs </a:t>
            </a:r>
            <a:r>
              <a:rPr lang="en-GB" sz="1600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="0" i="0" lang="en-GB" sz="1600" u="none" cap="none" strike="noStrike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 open data.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9"/>
          <p:cNvSpPr txBox="1"/>
          <p:nvPr/>
        </p:nvSpPr>
        <p:spPr>
          <a:xfrm>
            <a:off x="617236" y="4629150"/>
            <a:ext cx="54865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B3AECB"/>
                </a:solidFill>
                <a:latin typeface="Calibri"/>
                <a:ea typeface="Calibri"/>
                <a:cs typeface="Calibri"/>
                <a:sym typeface="Calibri"/>
              </a:rPr>
              <a:t>SecurityScorecard  ·  Customer Success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9"/>
          <p:cNvSpPr txBox="1"/>
          <p:nvPr/>
        </p:nvSpPr>
        <p:spPr>
          <a:xfrm>
            <a:off x="762461" y="3124780"/>
            <a:ext cx="72012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DE9FB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Deliver $30M ARR</a:t>
            </a:r>
            <a:endParaRPr sz="1600">
              <a:solidFill>
                <a:srgbClr val="EDE9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DE9FB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API-first, Agentic AI solution</a:t>
            </a:r>
            <a:endParaRPr sz="1600">
              <a:solidFill>
                <a:srgbClr val="EDE9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DE9FB"/>
              </a:buClr>
              <a:buSzPts val="1600"/>
              <a:buFont typeface="Calibri"/>
              <a:buChar char="●"/>
            </a:pPr>
            <a:r>
              <a:rPr lang="en-GB" sz="1600">
                <a:solidFill>
                  <a:srgbClr val="EDE9FB"/>
                </a:solidFill>
                <a:latin typeface="Calibri"/>
                <a:ea typeface="Calibri"/>
                <a:cs typeface="Calibri"/>
                <a:sym typeface="Calibri"/>
              </a:rPr>
              <a:t>Automatically converts Titan Watch into Titan MAX customers</a:t>
            </a:r>
            <a:endParaRPr sz="1600">
              <a:solidFill>
                <a:srgbClr val="EDE9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0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0"/>
          <p:cNvSpPr/>
          <p:nvPr/>
        </p:nvSpPr>
        <p:spPr>
          <a:xfrm>
            <a:off x="411491" y="377190"/>
            <a:ext cx="61724" cy="219456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0"/>
          <p:cNvSpPr txBox="1"/>
          <p:nvPr/>
        </p:nvSpPr>
        <p:spPr>
          <a:xfrm>
            <a:off x="562371" y="329184"/>
            <a:ext cx="41149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THE OPPORTUNITY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0"/>
          <p:cNvSpPr txBox="1"/>
          <p:nvPr/>
        </p:nvSpPr>
        <p:spPr>
          <a:xfrm>
            <a:off x="411491" y="617220"/>
            <a:ext cx="7887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lang="en-GB" sz="2900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The Million Dollar ARR Upsell Machine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0"/>
          <p:cNvSpPr txBox="1"/>
          <p:nvPr/>
        </p:nvSpPr>
        <p:spPr>
          <a:xfrm>
            <a:off x="411491" y="1062990"/>
            <a:ext cx="768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AI Agent to help us highlight relevant achievements, milestones, and insights, triggering automated personalised emails to showcase SSC’s impact, and recommend purchases and additional services.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0"/>
          <p:cNvSpPr/>
          <p:nvPr/>
        </p:nvSpPr>
        <p:spPr>
          <a:xfrm>
            <a:off x="411491" y="1611630"/>
            <a:ext cx="1906575" cy="243459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0"/>
          <p:cNvSpPr/>
          <p:nvPr/>
        </p:nvSpPr>
        <p:spPr>
          <a:xfrm>
            <a:off x="411491" y="1611630"/>
            <a:ext cx="1906575" cy="54864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0"/>
          <p:cNvSpPr txBox="1"/>
          <p:nvPr/>
        </p:nvSpPr>
        <p:spPr>
          <a:xfrm>
            <a:off x="562371" y="1817370"/>
            <a:ext cx="16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Save CSMs time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0"/>
          <p:cNvSpPr txBox="1"/>
          <p:nvPr/>
        </p:nvSpPr>
        <p:spPr>
          <a:xfrm>
            <a:off x="562371" y="2263140"/>
            <a:ext cx="1604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Reduce </a:t>
            </a:r>
            <a:r>
              <a:rPr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manual work from 195 minutes to 26 minutes with the AI Agent.</a:t>
            </a:r>
            <a:endParaRPr sz="1100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sz="1100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sz="1100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sz="1100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t/>
            </a:r>
            <a:endParaRPr sz="1100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Arial"/>
              <a:buNone/>
            </a:pPr>
            <a:r>
              <a:rPr lang="en-GB" sz="85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Stated model, per account: 9 min finding a trigger, 4 min drafting, 2 min reviewing — across 13 accounts.</a:t>
            </a:r>
            <a:endParaRPr sz="1100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0"/>
          <p:cNvSpPr/>
          <p:nvPr/>
        </p:nvSpPr>
        <p:spPr>
          <a:xfrm>
            <a:off x="2510094" y="1611630"/>
            <a:ext cx="1906575" cy="243459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0"/>
          <p:cNvSpPr/>
          <p:nvPr/>
        </p:nvSpPr>
        <p:spPr>
          <a:xfrm>
            <a:off x="2510094" y="1611630"/>
            <a:ext cx="1906575" cy="54864"/>
          </a:xfrm>
          <a:prstGeom prst="rect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2603900" y="1817375"/>
            <a:ext cx="172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Engage</a:t>
            </a:r>
            <a:r>
              <a:rPr b="1" lang="en-GB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 with customers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0"/>
          <p:cNvSpPr txBox="1"/>
          <p:nvPr/>
        </p:nvSpPr>
        <p:spPr>
          <a:xfrm>
            <a:off x="2660974" y="2263140"/>
            <a:ext cx="16047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Engage with customers using AI-prioritised insights, with personalised communications sent at the click of a button.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0"/>
          <p:cNvSpPr/>
          <p:nvPr/>
        </p:nvSpPr>
        <p:spPr>
          <a:xfrm>
            <a:off x="4608698" y="1611630"/>
            <a:ext cx="1906575" cy="243459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0"/>
          <p:cNvSpPr/>
          <p:nvPr/>
        </p:nvSpPr>
        <p:spPr>
          <a:xfrm>
            <a:off x="4608698" y="1611630"/>
            <a:ext cx="1906575" cy="54864"/>
          </a:xfrm>
          <a:prstGeom prst="rect">
            <a:avLst/>
          </a:prstGeom>
          <a:solidFill>
            <a:srgbClr val="D98E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0"/>
          <p:cNvSpPr txBox="1"/>
          <p:nvPr/>
        </p:nvSpPr>
        <p:spPr>
          <a:xfrm>
            <a:off x="4722866" y="1817375"/>
            <a:ext cx="172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Capture Opportunities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0"/>
          <p:cNvSpPr txBox="1"/>
          <p:nvPr/>
        </p:nvSpPr>
        <p:spPr>
          <a:xfrm>
            <a:off x="4759578" y="2263140"/>
            <a:ext cx="1604700" cy="15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All </a:t>
            </a:r>
            <a:r>
              <a:rPr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opportunities</a:t>
            </a:r>
            <a:r>
              <a:rPr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 are automatically captured and highlighted to the CSM. </a:t>
            </a:r>
            <a:endParaRPr sz="1100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Score improvements</a:t>
            </a:r>
            <a:endParaRPr i="1" sz="1100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Usage signals</a:t>
            </a:r>
            <a:endParaRPr i="1" sz="1100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Supplier &amp; sector risk</a:t>
            </a:r>
            <a:endParaRPr i="1" sz="1100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Company news</a:t>
            </a:r>
            <a:endParaRPr i="1" sz="1100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0"/>
          <p:cNvSpPr/>
          <p:nvPr/>
        </p:nvSpPr>
        <p:spPr>
          <a:xfrm>
            <a:off x="6707303" y="1611630"/>
            <a:ext cx="1906575" cy="243459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0"/>
          <p:cNvSpPr/>
          <p:nvPr/>
        </p:nvSpPr>
        <p:spPr>
          <a:xfrm>
            <a:off x="6707303" y="1611630"/>
            <a:ext cx="1906575" cy="54864"/>
          </a:xfrm>
          <a:prstGeom prst="rect">
            <a:avLst/>
          </a:prstGeom>
          <a:solidFill>
            <a:srgbClr val="5D5A7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0"/>
          <p:cNvSpPr txBox="1"/>
          <p:nvPr/>
        </p:nvSpPr>
        <p:spPr>
          <a:xfrm>
            <a:off x="6858183" y="1817370"/>
            <a:ext cx="16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Grow ARR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0"/>
          <p:cNvSpPr txBox="1"/>
          <p:nvPr/>
        </p:nvSpPr>
        <p:spPr>
          <a:xfrm>
            <a:off x="6858183" y="2263140"/>
            <a:ext cx="1604700" cy="13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Automatically converts Titan Watch into Titan MAX customers.</a:t>
            </a:r>
            <a:endParaRPr sz="1100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Improves renewal rate by spotting risks of churn months in advance.</a:t>
            </a:r>
            <a:endParaRPr sz="1100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0"/>
          <p:cNvSpPr txBox="1"/>
          <p:nvPr/>
        </p:nvSpPr>
        <p:spPr>
          <a:xfrm>
            <a:off x="8229819" y="4855464"/>
            <a:ext cx="4800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1"/>
          <p:cNvSpPr/>
          <p:nvPr/>
        </p:nvSpPr>
        <p:spPr>
          <a:xfrm>
            <a:off x="411491" y="377190"/>
            <a:ext cx="61800" cy="21960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1"/>
          <p:cNvSpPr txBox="1"/>
          <p:nvPr/>
        </p:nvSpPr>
        <p:spPr>
          <a:xfrm>
            <a:off x="562371" y="329184"/>
            <a:ext cx="4114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THE OPPORTUNITY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1"/>
          <p:cNvSpPr txBox="1"/>
          <p:nvPr/>
        </p:nvSpPr>
        <p:spPr>
          <a:xfrm>
            <a:off x="411491" y="617220"/>
            <a:ext cx="7887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GB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Upsell signals exist — but they're scattered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1"/>
          <p:cNvSpPr txBox="1"/>
          <p:nvPr/>
        </p:nvSpPr>
        <p:spPr>
          <a:xfrm>
            <a:off x="411491" y="1062990"/>
            <a:ext cx="76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CSMs already have the data. It's just spread across too many places to act on consistently.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1"/>
          <p:cNvSpPr/>
          <p:nvPr/>
        </p:nvSpPr>
        <p:spPr>
          <a:xfrm>
            <a:off x="411491" y="1611630"/>
            <a:ext cx="1906500" cy="243450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1"/>
          <p:cNvSpPr/>
          <p:nvPr/>
        </p:nvSpPr>
        <p:spPr>
          <a:xfrm>
            <a:off x="411491" y="1611630"/>
            <a:ext cx="1906500" cy="5490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1"/>
          <p:cNvSpPr txBox="1"/>
          <p:nvPr/>
        </p:nvSpPr>
        <p:spPr>
          <a:xfrm>
            <a:off x="562371" y="1817370"/>
            <a:ext cx="16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Score improvements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1"/>
          <p:cNvSpPr txBox="1"/>
          <p:nvPr/>
        </p:nvSpPr>
        <p:spPr>
          <a:xfrm>
            <a:off x="562371" y="2263140"/>
            <a:ext cx="16047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 customer's own posture gets better — proof the platform is working — but nobody flags it as an upsell moment.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1"/>
          <p:cNvSpPr/>
          <p:nvPr/>
        </p:nvSpPr>
        <p:spPr>
          <a:xfrm>
            <a:off x="2510094" y="1611630"/>
            <a:ext cx="1906500" cy="243450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1"/>
          <p:cNvSpPr/>
          <p:nvPr/>
        </p:nvSpPr>
        <p:spPr>
          <a:xfrm>
            <a:off x="2510094" y="1611630"/>
            <a:ext cx="1906500" cy="54900"/>
          </a:xfrm>
          <a:prstGeom prst="rect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1"/>
          <p:cNvSpPr txBox="1"/>
          <p:nvPr/>
        </p:nvSpPr>
        <p:spPr>
          <a:xfrm>
            <a:off x="2660974" y="1817370"/>
            <a:ext cx="16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Usage signals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1"/>
          <p:cNvSpPr txBox="1"/>
          <p:nvPr/>
        </p:nvSpPr>
        <p:spPr>
          <a:xfrm>
            <a:off x="2660974" y="2263140"/>
            <a:ext cx="16047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Accounts approaching plan limits are ready to grow, but that's buried in usage logs, not a CSM's inbox.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1"/>
          <p:cNvSpPr/>
          <p:nvPr/>
        </p:nvSpPr>
        <p:spPr>
          <a:xfrm>
            <a:off x="4608698" y="1611630"/>
            <a:ext cx="1906500" cy="243450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1"/>
          <p:cNvSpPr/>
          <p:nvPr/>
        </p:nvSpPr>
        <p:spPr>
          <a:xfrm>
            <a:off x="4608698" y="1611630"/>
            <a:ext cx="1906500" cy="54900"/>
          </a:xfrm>
          <a:prstGeom prst="rect">
            <a:avLst/>
          </a:prstGeom>
          <a:solidFill>
            <a:srgbClr val="D98E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1"/>
          <p:cNvSpPr txBox="1"/>
          <p:nvPr/>
        </p:nvSpPr>
        <p:spPr>
          <a:xfrm>
            <a:off x="4759578" y="1817370"/>
            <a:ext cx="16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Supplier &amp; sector risk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1"/>
          <p:cNvSpPr txBox="1"/>
          <p:nvPr/>
        </p:nvSpPr>
        <p:spPr>
          <a:xfrm>
            <a:off x="4759578" y="2263140"/>
            <a:ext cx="16047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Third-party risk shows up outside the customer's own score, and rarely reaches the CSM who owns the account.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1"/>
          <p:cNvSpPr/>
          <p:nvPr/>
        </p:nvSpPr>
        <p:spPr>
          <a:xfrm>
            <a:off x="6707303" y="1611630"/>
            <a:ext cx="1906500" cy="243450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1"/>
          <p:cNvSpPr/>
          <p:nvPr/>
        </p:nvSpPr>
        <p:spPr>
          <a:xfrm>
            <a:off x="6707303" y="1611630"/>
            <a:ext cx="1906500" cy="54900"/>
          </a:xfrm>
          <a:prstGeom prst="rect">
            <a:avLst/>
          </a:prstGeom>
          <a:solidFill>
            <a:srgbClr val="5D5A7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1"/>
          <p:cNvSpPr txBox="1"/>
          <p:nvPr/>
        </p:nvSpPr>
        <p:spPr>
          <a:xfrm>
            <a:off x="6858183" y="1817370"/>
            <a:ext cx="16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Company news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1"/>
          <p:cNvSpPr txBox="1"/>
          <p:nvPr/>
        </p:nvSpPr>
        <p:spPr>
          <a:xfrm>
            <a:off x="6858183" y="2263140"/>
            <a:ext cx="16047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Funding, leadership changes, and other timely moments come and go before anyone reaches out.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1"/>
          <p:cNvSpPr txBox="1"/>
          <p:nvPr/>
        </p:nvSpPr>
        <p:spPr>
          <a:xfrm>
            <a:off x="8229819" y="4855464"/>
            <a:ext cx="48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2"/>
          <p:cNvSpPr/>
          <p:nvPr/>
        </p:nvSpPr>
        <p:spPr>
          <a:xfrm>
            <a:off x="411491" y="377190"/>
            <a:ext cx="61800" cy="21960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2"/>
          <p:cNvSpPr txBox="1"/>
          <p:nvPr/>
        </p:nvSpPr>
        <p:spPr>
          <a:xfrm>
            <a:off x="562371" y="329184"/>
            <a:ext cx="4114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THE OPPORTUNITY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2"/>
          <p:cNvSpPr txBox="1"/>
          <p:nvPr/>
        </p:nvSpPr>
        <p:spPr>
          <a:xfrm>
            <a:off x="411491" y="617220"/>
            <a:ext cx="7887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lang="en-GB" sz="2900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APIs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2"/>
          <p:cNvSpPr txBox="1"/>
          <p:nvPr/>
        </p:nvSpPr>
        <p:spPr>
          <a:xfrm>
            <a:off x="411491" y="1062990"/>
            <a:ext cx="76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Lorem ipsum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2"/>
          <p:cNvSpPr/>
          <p:nvPr/>
        </p:nvSpPr>
        <p:spPr>
          <a:xfrm>
            <a:off x="411491" y="1611630"/>
            <a:ext cx="1906500" cy="243450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2"/>
          <p:cNvSpPr/>
          <p:nvPr/>
        </p:nvSpPr>
        <p:spPr>
          <a:xfrm>
            <a:off x="411491" y="1611630"/>
            <a:ext cx="1906500" cy="5490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2"/>
          <p:cNvSpPr txBox="1"/>
          <p:nvPr/>
        </p:nvSpPr>
        <p:spPr>
          <a:xfrm>
            <a:off x="562371" y="1817370"/>
            <a:ext cx="160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SecurityScorecard — Platform API (PV1)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2"/>
          <p:cNvSpPr txBox="1"/>
          <p:nvPr/>
        </p:nvSpPr>
        <p:spPr>
          <a:xfrm>
            <a:off x="562371" y="2432340"/>
            <a:ext cx="16047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Base: https://api.securityscorecard.io</a:t>
            </a:r>
            <a:endParaRPr i="0" sz="1100" u="none" cap="none" strike="noStrike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2"/>
          <p:cNvSpPr/>
          <p:nvPr/>
        </p:nvSpPr>
        <p:spPr>
          <a:xfrm>
            <a:off x="2510094" y="1611630"/>
            <a:ext cx="1906500" cy="243450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2"/>
          <p:cNvSpPr/>
          <p:nvPr/>
        </p:nvSpPr>
        <p:spPr>
          <a:xfrm>
            <a:off x="2510094" y="1611630"/>
            <a:ext cx="1906500" cy="54900"/>
          </a:xfrm>
          <a:prstGeom prst="rect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2"/>
          <p:cNvSpPr txBox="1"/>
          <p:nvPr/>
        </p:nvSpPr>
        <p:spPr>
          <a:xfrm>
            <a:off x="2660974" y="1817370"/>
            <a:ext cx="160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Google News — RSS search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2"/>
          <p:cNvSpPr txBox="1"/>
          <p:nvPr/>
        </p:nvSpPr>
        <p:spPr>
          <a:xfrm>
            <a:off x="2660999" y="2432340"/>
            <a:ext cx="1604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https://api.securityscorecard.io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2"/>
          <p:cNvSpPr/>
          <p:nvPr/>
        </p:nvSpPr>
        <p:spPr>
          <a:xfrm>
            <a:off x="4608698" y="1611630"/>
            <a:ext cx="1906500" cy="243450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2"/>
          <p:cNvSpPr/>
          <p:nvPr/>
        </p:nvSpPr>
        <p:spPr>
          <a:xfrm>
            <a:off x="4608698" y="1611630"/>
            <a:ext cx="1906500" cy="54900"/>
          </a:xfrm>
          <a:prstGeom prst="rect">
            <a:avLst/>
          </a:prstGeom>
          <a:solidFill>
            <a:srgbClr val="D98E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2"/>
          <p:cNvSpPr txBox="1"/>
          <p:nvPr/>
        </p:nvSpPr>
        <p:spPr>
          <a:xfrm>
            <a:off x="4759578" y="1817370"/>
            <a:ext cx="160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OpenAI — Chat Completions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2"/>
          <p:cNvSpPr txBox="1"/>
          <p:nvPr/>
        </p:nvSpPr>
        <p:spPr>
          <a:xfrm>
            <a:off x="4759578" y="2263140"/>
            <a:ext cx="16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POST /v1/chat/completions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2"/>
          <p:cNvSpPr/>
          <p:nvPr/>
        </p:nvSpPr>
        <p:spPr>
          <a:xfrm>
            <a:off x="6707303" y="1611630"/>
            <a:ext cx="1906500" cy="243450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2"/>
          <p:cNvSpPr/>
          <p:nvPr/>
        </p:nvSpPr>
        <p:spPr>
          <a:xfrm>
            <a:off x="6707303" y="1611630"/>
            <a:ext cx="1906500" cy="54900"/>
          </a:xfrm>
          <a:prstGeom prst="rect">
            <a:avLst/>
          </a:prstGeom>
          <a:solidFill>
            <a:srgbClr val="5D5A7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2"/>
          <p:cNvSpPr txBox="1"/>
          <p:nvPr/>
        </p:nvSpPr>
        <p:spPr>
          <a:xfrm>
            <a:off x="6858183" y="1817370"/>
            <a:ext cx="16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Clearbit — Logo API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2"/>
          <p:cNvSpPr txBox="1"/>
          <p:nvPr/>
        </p:nvSpPr>
        <p:spPr>
          <a:xfrm>
            <a:off x="6858183" y="2263140"/>
            <a:ext cx="1604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https://logo.clearbit.com/{domain}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2"/>
          <p:cNvSpPr txBox="1"/>
          <p:nvPr/>
        </p:nvSpPr>
        <p:spPr>
          <a:xfrm>
            <a:off x="8229819" y="4855464"/>
            <a:ext cx="48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3"/>
          <p:cNvSpPr/>
          <p:nvPr/>
        </p:nvSpPr>
        <p:spPr>
          <a:xfrm>
            <a:off x="411491" y="377190"/>
            <a:ext cx="61800" cy="21960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3"/>
          <p:cNvSpPr txBox="1"/>
          <p:nvPr/>
        </p:nvSpPr>
        <p:spPr>
          <a:xfrm>
            <a:off x="562371" y="329184"/>
            <a:ext cx="4114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THE OPPORTUNITY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3"/>
          <p:cNvSpPr txBox="1"/>
          <p:nvPr/>
        </p:nvSpPr>
        <p:spPr>
          <a:xfrm>
            <a:off x="411491" y="617220"/>
            <a:ext cx="7887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lang="en-GB" sz="2900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Truly engaging with our Customers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3"/>
          <p:cNvSpPr txBox="1"/>
          <p:nvPr/>
        </p:nvSpPr>
        <p:spPr>
          <a:xfrm>
            <a:off x="411491" y="1062990"/>
            <a:ext cx="768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CSMs already have the data. It's just spread across too many places to act on consistently.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3"/>
          <p:cNvSpPr/>
          <p:nvPr/>
        </p:nvSpPr>
        <p:spPr>
          <a:xfrm>
            <a:off x="411491" y="1611630"/>
            <a:ext cx="1906500" cy="243450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3"/>
          <p:cNvSpPr/>
          <p:nvPr/>
        </p:nvSpPr>
        <p:spPr>
          <a:xfrm>
            <a:off x="411491" y="1611630"/>
            <a:ext cx="1906500" cy="5490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3"/>
          <p:cNvSpPr txBox="1"/>
          <p:nvPr/>
        </p:nvSpPr>
        <p:spPr>
          <a:xfrm>
            <a:off x="562371" y="1817370"/>
            <a:ext cx="16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Score improvements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3"/>
          <p:cNvSpPr txBox="1"/>
          <p:nvPr/>
        </p:nvSpPr>
        <p:spPr>
          <a:xfrm>
            <a:off x="562371" y="2263140"/>
            <a:ext cx="16047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 customer's own posture gets better — proof the platform is working — but nobody flags it as an upsell moment.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43"/>
          <p:cNvSpPr/>
          <p:nvPr/>
        </p:nvSpPr>
        <p:spPr>
          <a:xfrm>
            <a:off x="2510094" y="1611630"/>
            <a:ext cx="1906500" cy="243450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3"/>
          <p:cNvSpPr/>
          <p:nvPr/>
        </p:nvSpPr>
        <p:spPr>
          <a:xfrm>
            <a:off x="2510094" y="1611630"/>
            <a:ext cx="1906500" cy="54900"/>
          </a:xfrm>
          <a:prstGeom prst="rect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3"/>
          <p:cNvSpPr txBox="1"/>
          <p:nvPr/>
        </p:nvSpPr>
        <p:spPr>
          <a:xfrm>
            <a:off x="2660974" y="1817370"/>
            <a:ext cx="16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Usage signals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43"/>
          <p:cNvSpPr txBox="1"/>
          <p:nvPr/>
        </p:nvSpPr>
        <p:spPr>
          <a:xfrm>
            <a:off x="2660974" y="2263140"/>
            <a:ext cx="16047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Accounts approaching plan limits are ready to grow, but that's buried in usage logs, not a CSM's inbox.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3"/>
          <p:cNvSpPr/>
          <p:nvPr/>
        </p:nvSpPr>
        <p:spPr>
          <a:xfrm>
            <a:off x="4608698" y="1611630"/>
            <a:ext cx="1906500" cy="243450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3"/>
          <p:cNvSpPr/>
          <p:nvPr/>
        </p:nvSpPr>
        <p:spPr>
          <a:xfrm>
            <a:off x="4608698" y="1611630"/>
            <a:ext cx="1906500" cy="54900"/>
          </a:xfrm>
          <a:prstGeom prst="rect">
            <a:avLst/>
          </a:prstGeom>
          <a:solidFill>
            <a:srgbClr val="D98E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3"/>
          <p:cNvSpPr txBox="1"/>
          <p:nvPr/>
        </p:nvSpPr>
        <p:spPr>
          <a:xfrm>
            <a:off x="4759578" y="1817370"/>
            <a:ext cx="16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Supplier &amp; sector risk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3"/>
          <p:cNvSpPr txBox="1"/>
          <p:nvPr/>
        </p:nvSpPr>
        <p:spPr>
          <a:xfrm>
            <a:off x="4759578" y="2263140"/>
            <a:ext cx="16047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Third-party risk shows up outside the customer's own score, and rarely reaches the CSM who owns the account.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3"/>
          <p:cNvSpPr/>
          <p:nvPr/>
        </p:nvSpPr>
        <p:spPr>
          <a:xfrm>
            <a:off x="6707303" y="1611630"/>
            <a:ext cx="1906500" cy="243450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3"/>
          <p:cNvSpPr/>
          <p:nvPr/>
        </p:nvSpPr>
        <p:spPr>
          <a:xfrm>
            <a:off x="6707303" y="1611630"/>
            <a:ext cx="1906500" cy="54900"/>
          </a:xfrm>
          <a:prstGeom prst="rect">
            <a:avLst/>
          </a:prstGeom>
          <a:solidFill>
            <a:srgbClr val="5D5A7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3"/>
          <p:cNvSpPr txBox="1"/>
          <p:nvPr/>
        </p:nvSpPr>
        <p:spPr>
          <a:xfrm>
            <a:off x="6858183" y="1817370"/>
            <a:ext cx="16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Company news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3"/>
          <p:cNvSpPr txBox="1"/>
          <p:nvPr/>
        </p:nvSpPr>
        <p:spPr>
          <a:xfrm>
            <a:off x="6858183" y="2263140"/>
            <a:ext cx="16047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Funding, leadership changes, and other timely moments come and go before anyone reaches out.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3"/>
          <p:cNvSpPr txBox="1"/>
          <p:nvPr/>
        </p:nvSpPr>
        <p:spPr>
          <a:xfrm>
            <a:off x="8229819" y="4855464"/>
            <a:ext cx="48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4"/>
          <p:cNvSpPr/>
          <p:nvPr/>
        </p:nvSpPr>
        <p:spPr>
          <a:xfrm>
            <a:off x="411491" y="377190"/>
            <a:ext cx="61724" cy="219456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4"/>
          <p:cNvSpPr txBox="1"/>
          <p:nvPr/>
        </p:nvSpPr>
        <p:spPr>
          <a:xfrm>
            <a:off x="562371" y="329184"/>
            <a:ext cx="41149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THE PRODUCT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4"/>
          <p:cNvSpPr txBox="1"/>
          <p:nvPr/>
        </p:nvSpPr>
        <p:spPr>
          <a:xfrm>
            <a:off x="411491" y="617220"/>
            <a:ext cx="78869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GB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One board: every signal, four lanes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4"/>
          <p:cNvSpPr txBox="1"/>
          <p:nvPr/>
        </p:nvSpPr>
        <p:spPr>
          <a:xfrm>
            <a:off x="411491" y="1062990"/>
            <a:ext cx="781832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The Opportunities board is the landing screen — the single place CSMs work the whole portfolio.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4"/>
          <p:cNvSpPr/>
          <p:nvPr/>
        </p:nvSpPr>
        <p:spPr>
          <a:xfrm>
            <a:off x="411491" y="1611630"/>
            <a:ext cx="7955492" cy="651510"/>
          </a:xfrm>
          <a:prstGeom prst="roundRect">
            <a:avLst>
              <a:gd fmla="val 12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4"/>
          <p:cNvSpPr/>
          <p:nvPr/>
        </p:nvSpPr>
        <p:spPr>
          <a:xfrm>
            <a:off x="411491" y="1611630"/>
            <a:ext cx="82298" cy="65151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4"/>
          <p:cNvSpPr txBox="1"/>
          <p:nvPr/>
        </p:nvSpPr>
        <p:spPr>
          <a:xfrm>
            <a:off x="651527" y="1700784"/>
            <a:ext cx="2057455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Own Cyber Posture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4"/>
          <p:cNvSpPr txBox="1"/>
          <p:nvPr/>
        </p:nvSpPr>
        <p:spPr>
          <a:xfrm>
            <a:off x="2811854" y="1700784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Evidence the customer's own security is already paying off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4"/>
          <p:cNvSpPr/>
          <p:nvPr/>
        </p:nvSpPr>
        <p:spPr>
          <a:xfrm>
            <a:off x="411491" y="2386584"/>
            <a:ext cx="7955492" cy="651510"/>
          </a:xfrm>
          <a:prstGeom prst="roundRect">
            <a:avLst>
              <a:gd fmla="val 12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4"/>
          <p:cNvSpPr/>
          <p:nvPr/>
        </p:nvSpPr>
        <p:spPr>
          <a:xfrm>
            <a:off x="411491" y="2386584"/>
            <a:ext cx="82298" cy="651510"/>
          </a:xfrm>
          <a:prstGeom prst="rect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4"/>
          <p:cNvSpPr txBox="1"/>
          <p:nvPr/>
        </p:nvSpPr>
        <p:spPr>
          <a:xfrm>
            <a:off x="651527" y="2475738"/>
            <a:ext cx="2057455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Usage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4"/>
          <p:cNvSpPr txBox="1"/>
          <p:nvPr/>
        </p:nvSpPr>
        <p:spPr>
          <a:xfrm>
            <a:off x="2811854" y="2475738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Platform usage telling you the account is ready for more — now including questionnaire capacity/expiry and pricing signals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4"/>
          <p:cNvSpPr/>
          <p:nvPr/>
        </p:nvSpPr>
        <p:spPr>
          <a:xfrm>
            <a:off x="411491" y="3161538"/>
            <a:ext cx="7955492" cy="651510"/>
          </a:xfrm>
          <a:prstGeom prst="roundRect">
            <a:avLst>
              <a:gd fmla="val 12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4"/>
          <p:cNvSpPr/>
          <p:nvPr/>
        </p:nvSpPr>
        <p:spPr>
          <a:xfrm>
            <a:off x="411491" y="3161538"/>
            <a:ext cx="82298" cy="651510"/>
          </a:xfrm>
          <a:prstGeom prst="rect">
            <a:avLst/>
          </a:prstGeom>
          <a:solidFill>
            <a:srgbClr val="D98E2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4"/>
          <p:cNvSpPr txBox="1"/>
          <p:nvPr/>
        </p:nvSpPr>
        <p:spPr>
          <a:xfrm>
            <a:off x="651527" y="3250692"/>
            <a:ext cx="2057455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Monitoring Opportunities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4"/>
          <p:cNvSpPr txBox="1"/>
          <p:nvPr/>
        </p:nvSpPr>
        <p:spPr>
          <a:xfrm>
            <a:off x="2811854" y="3250692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Third-party and sector risk, plus new people worth bringing into monitoring or engagement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4"/>
          <p:cNvSpPr/>
          <p:nvPr/>
        </p:nvSpPr>
        <p:spPr>
          <a:xfrm>
            <a:off x="411491" y="3936492"/>
            <a:ext cx="7955492" cy="651510"/>
          </a:xfrm>
          <a:prstGeom prst="roundRect">
            <a:avLst>
              <a:gd fmla="val 12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4"/>
          <p:cNvSpPr/>
          <p:nvPr/>
        </p:nvSpPr>
        <p:spPr>
          <a:xfrm>
            <a:off x="411491" y="3936492"/>
            <a:ext cx="82298" cy="651510"/>
          </a:xfrm>
          <a:prstGeom prst="rect">
            <a:avLst/>
          </a:prstGeom>
          <a:solidFill>
            <a:srgbClr val="5D5A7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4"/>
          <p:cNvSpPr txBox="1"/>
          <p:nvPr/>
        </p:nvSpPr>
        <p:spPr>
          <a:xfrm>
            <a:off x="651527" y="4025646"/>
            <a:ext cx="2057455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Growing attack surface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4"/>
          <p:cNvSpPr txBox="1"/>
          <p:nvPr/>
        </p:nvSpPr>
        <p:spPr>
          <a:xfrm>
            <a:off x="2811854" y="4025646"/>
            <a:ext cx="541796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Company news that expands the customer's own footprint — acquisitions, offices, launches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4"/>
          <p:cNvSpPr txBox="1"/>
          <p:nvPr/>
        </p:nvSpPr>
        <p:spPr>
          <a:xfrm>
            <a:off x="8229819" y="4855464"/>
            <a:ext cx="4800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5"/>
          <p:cNvSpPr/>
          <p:nvPr/>
        </p:nvSpPr>
        <p:spPr>
          <a:xfrm>
            <a:off x="411491" y="377190"/>
            <a:ext cx="61724" cy="219456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5"/>
          <p:cNvSpPr txBox="1"/>
          <p:nvPr/>
        </p:nvSpPr>
        <p:spPr>
          <a:xfrm>
            <a:off x="562371" y="329184"/>
            <a:ext cx="41149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THE EXPERIENCE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5"/>
          <p:cNvSpPr txBox="1"/>
          <p:nvPr/>
        </p:nvSpPr>
        <p:spPr>
          <a:xfrm>
            <a:off x="411491" y="617220"/>
            <a:ext cx="78869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GB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Designed for a five-second scan, not a report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5"/>
          <p:cNvSpPr/>
          <p:nvPr/>
        </p:nvSpPr>
        <p:spPr>
          <a:xfrm>
            <a:off x="411491" y="1303020"/>
            <a:ext cx="3154764" cy="2057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4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5"/>
          <p:cNvSpPr/>
          <p:nvPr/>
        </p:nvSpPr>
        <p:spPr>
          <a:xfrm>
            <a:off x="411491" y="1303020"/>
            <a:ext cx="68582" cy="2057400"/>
          </a:xfrm>
          <a:prstGeom prst="rect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5"/>
          <p:cNvSpPr txBox="1"/>
          <p:nvPr/>
        </p:nvSpPr>
        <p:spPr>
          <a:xfrm>
            <a:off x="617236" y="1474470"/>
            <a:ext cx="2674691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158A5E"/>
                </a:solidFill>
                <a:latin typeface="Calibri"/>
                <a:ea typeface="Calibri"/>
                <a:cs typeface="Calibri"/>
                <a:sym typeface="Calibri"/>
              </a:rPr>
              <a:t>USAGE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5"/>
          <p:cNvSpPr txBox="1"/>
          <p:nvPr/>
        </p:nvSpPr>
        <p:spPr>
          <a:xfrm>
            <a:off x="617236" y="1714500"/>
            <a:ext cx="26746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Flag rising slot usage before it hits the licensed cap.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5"/>
          <p:cNvSpPr txBox="1"/>
          <p:nvPr/>
        </p:nvSpPr>
        <p:spPr>
          <a:xfrm>
            <a:off x="617236" y="2366010"/>
            <a:ext cx="24003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ⓘ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5"/>
          <p:cNvSpPr txBox="1"/>
          <p:nvPr/>
        </p:nvSpPr>
        <p:spPr>
          <a:xfrm>
            <a:off x="891564" y="2366010"/>
            <a:ext cx="23317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GB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click for the fuller explanation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5"/>
          <p:cNvSpPr/>
          <p:nvPr/>
        </p:nvSpPr>
        <p:spPr>
          <a:xfrm>
            <a:off x="617236" y="2846070"/>
            <a:ext cx="1165891" cy="342900"/>
          </a:xfrm>
          <a:prstGeom prst="roundRect">
            <a:avLst>
              <a:gd fmla="val 30000" name="adj"/>
            </a:avLst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5"/>
          <p:cNvSpPr txBox="1"/>
          <p:nvPr/>
        </p:nvSpPr>
        <p:spPr>
          <a:xfrm>
            <a:off x="617236" y="2846070"/>
            <a:ext cx="11658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Draft email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5"/>
          <p:cNvSpPr/>
          <p:nvPr/>
        </p:nvSpPr>
        <p:spPr>
          <a:xfrm>
            <a:off x="3806291" y="1392174"/>
            <a:ext cx="68582" cy="68580"/>
          </a:xfrm>
          <a:prstGeom prst="ellipse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5"/>
          <p:cNvSpPr txBox="1"/>
          <p:nvPr/>
        </p:nvSpPr>
        <p:spPr>
          <a:xfrm>
            <a:off x="3977746" y="1337310"/>
            <a:ext cx="47321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Active-voice instruction leads every card — the ask, not the raw data.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5"/>
          <p:cNvSpPr/>
          <p:nvPr/>
        </p:nvSpPr>
        <p:spPr>
          <a:xfrm>
            <a:off x="3806291" y="1817370"/>
            <a:ext cx="68582" cy="68580"/>
          </a:xfrm>
          <a:prstGeom prst="ellipse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5"/>
          <p:cNvSpPr txBox="1"/>
          <p:nvPr/>
        </p:nvSpPr>
        <p:spPr>
          <a:xfrm>
            <a:off x="3977746" y="1762506"/>
            <a:ext cx="47321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Default / Detailed / Compact views trade off density; text-size control persists across reloads.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5"/>
          <p:cNvSpPr/>
          <p:nvPr/>
        </p:nvSpPr>
        <p:spPr>
          <a:xfrm>
            <a:off x="3806291" y="2242566"/>
            <a:ext cx="68582" cy="68580"/>
          </a:xfrm>
          <a:prstGeom prst="ellipse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5"/>
          <p:cNvSpPr txBox="1"/>
          <p:nvPr/>
        </p:nvSpPr>
        <p:spPr>
          <a:xfrm>
            <a:off x="3977746" y="2187702"/>
            <a:ext cx="47321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Search + multi-select narrows the whole board to specific accounts, with customer logos.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5"/>
          <p:cNvSpPr/>
          <p:nvPr/>
        </p:nvSpPr>
        <p:spPr>
          <a:xfrm>
            <a:off x="3806291" y="2667762"/>
            <a:ext cx="68582" cy="68580"/>
          </a:xfrm>
          <a:prstGeom prst="ellipse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5"/>
          <p:cNvSpPr txBox="1"/>
          <p:nvPr/>
        </p:nvSpPr>
        <p:spPr>
          <a:xfrm>
            <a:off x="3977746" y="2612898"/>
            <a:ext cx="47321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One click opens an editable, pre-drafted email with a recipient dropdown — News cards link the source article.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5"/>
          <p:cNvSpPr/>
          <p:nvPr/>
        </p:nvSpPr>
        <p:spPr>
          <a:xfrm>
            <a:off x="3806291" y="3092958"/>
            <a:ext cx="68582" cy="68580"/>
          </a:xfrm>
          <a:prstGeom prst="ellipse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5"/>
          <p:cNvSpPr txBox="1"/>
          <p:nvPr/>
        </p:nvSpPr>
        <p:spPr>
          <a:xfrm>
            <a:off x="3977746" y="3038094"/>
            <a:ext cx="47321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Provenance icons show where each signal came from; unbuilt triggers can show as labeled concept cards.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5"/>
          <p:cNvSpPr txBox="1"/>
          <p:nvPr/>
        </p:nvSpPr>
        <p:spPr>
          <a:xfrm>
            <a:off x="8229819" y="4855464"/>
            <a:ext cx="4800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6"/>
          <p:cNvSpPr/>
          <p:nvPr/>
        </p:nvSpPr>
        <p:spPr>
          <a:xfrm>
            <a:off x="411491" y="377190"/>
            <a:ext cx="61724" cy="219456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6"/>
          <p:cNvSpPr txBox="1"/>
          <p:nvPr/>
        </p:nvSpPr>
        <p:spPr>
          <a:xfrm>
            <a:off x="562371" y="329184"/>
            <a:ext cx="41149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6"/>
          <p:cNvSpPr txBox="1"/>
          <p:nvPr/>
        </p:nvSpPr>
        <p:spPr>
          <a:xfrm>
            <a:off x="411491" y="617220"/>
            <a:ext cx="78869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GB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Unattended research, reachable however a CSM works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6"/>
          <p:cNvSpPr/>
          <p:nvPr/>
        </p:nvSpPr>
        <p:spPr>
          <a:xfrm>
            <a:off x="411491" y="1611630"/>
            <a:ext cx="3874873" cy="133731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6"/>
          <p:cNvSpPr/>
          <p:nvPr/>
        </p:nvSpPr>
        <p:spPr>
          <a:xfrm>
            <a:off x="411491" y="1611630"/>
            <a:ext cx="54865" cy="133731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6"/>
          <p:cNvSpPr txBox="1"/>
          <p:nvPr/>
        </p:nvSpPr>
        <p:spPr>
          <a:xfrm>
            <a:off x="617236" y="1762506"/>
            <a:ext cx="34633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Daily research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6"/>
          <p:cNvSpPr txBox="1"/>
          <p:nvPr/>
        </p:nvSpPr>
        <p:spPr>
          <a:xfrm>
            <a:off x="617236" y="2105406"/>
            <a:ext cx="3463382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Runs unattended once a day: searches the news for every account and extracts structured events into the board.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6"/>
          <p:cNvSpPr/>
          <p:nvPr/>
        </p:nvSpPr>
        <p:spPr>
          <a:xfrm>
            <a:off x="4492110" y="1611630"/>
            <a:ext cx="3874873" cy="133731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6"/>
          <p:cNvSpPr/>
          <p:nvPr/>
        </p:nvSpPr>
        <p:spPr>
          <a:xfrm>
            <a:off x="4492110" y="1611630"/>
            <a:ext cx="54865" cy="1337310"/>
          </a:xfrm>
          <a:prstGeom prst="rect">
            <a:avLst/>
          </a:prstGeom>
          <a:solidFill>
            <a:srgbClr val="3423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6"/>
          <p:cNvSpPr txBox="1"/>
          <p:nvPr/>
        </p:nvSpPr>
        <p:spPr>
          <a:xfrm>
            <a:off x="4697855" y="1762506"/>
            <a:ext cx="34633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SecurityScorecard APIs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6"/>
          <p:cNvSpPr txBox="1"/>
          <p:nvPr/>
        </p:nvSpPr>
        <p:spPr>
          <a:xfrm>
            <a:off x="4697855" y="2105406"/>
            <a:ext cx="3463382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Own-score, usage, and supplier/sector risk all come straight from the platform the team already trusts.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6"/>
          <p:cNvSpPr/>
          <p:nvPr/>
        </p:nvSpPr>
        <p:spPr>
          <a:xfrm>
            <a:off x="411491" y="3154680"/>
            <a:ext cx="3874873" cy="133731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6"/>
          <p:cNvSpPr/>
          <p:nvPr/>
        </p:nvSpPr>
        <p:spPr>
          <a:xfrm>
            <a:off x="411491" y="3154680"/>
            <a:ext cx="54865" cy="133731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6"/>
          <p:cNvSpPr txBox="1"/>
          <p:nvPr/>
        </p:nvSpPr>
        <p:spPr>
          <a:xfrm>
            <a:off x="617236" y="3305556"/>
            <a:ext cx="34633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Tool-calling agent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6"/>
          <p:cNvSpPr txBox="1"/>
          <p:nvPr/>
        </p:nvSpPr>
        <p:spPr>
          <a:xfrm>
            <a:off x="617236" y="3648456"/>
            <a:ext cx="3463382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Answers plain-English portfolio questions and drafts a ranked daily worklist with emails, via API or chat.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6"/>
          <p:cNvSpPr/>
          <p:nvPr/>
        </p:nvSpPr>
        <p:spPr>
          <a:xfrm>
            <a:off x="4492110" y="3154680"/>
            <a:ext cx="3874873" cy="133731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6"/>
          <p:cNvSpPr/>
          <p:nvPr/>
        </p:nvSpPr>
        <p:spPr>
          <a:xfrm>
            <a:off x="4492110" y="3154680"/>
            <a:ext cx="54865" cy="1337310"/>
          </a:xfrm>
          <a:prstGeom prst="rect">
            <a:avLst/>
          </a:prstGeom>
          <a:solidFill>
            <a:srgbClr val="3423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6"/>
          <p:cNvSpPr txBox="1"/>
          <p:nvPr/>
        </p:nvSpPr>
        <p:spPr>
          <a:xfrm>
            <a:off x="4697855" y="3305556"/>
            <a:ext cx="34633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MCP server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6"/>
          <p:cNvSpPr txBox="1"/>
          <p:nvPr/>
        </p:nvSpPr>
        <p:spPr>
          <a:xfrm>
            <a:off x="4697855" y="3648456"/>
            <a:ext cx="3463382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Exposes the same portfolio tools to any MCP client (e.g. Claude Desktop) — a CSM can work the portfolio with no UI at all.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6"/>
          <p:cNvSpPr txBox="1"/>
          <p:nvPr/>
        </p:nvSpPr>
        <p:spPr>
          <a:xfrm>
            <a:off x="8229819" y="4855464"/>
            <a:ext cx="4800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7"/>
          <p:cNvSpPr/>
          <p:nvPr/>
        </p:nvSpPr>
        <p:spPr>
          <a:xfrm>
            <a:off x="411491" y="377190"/>
            <a:ext cx="61724" cy="219456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7"/>
          <p:cNvSpPr txBox="1"/>
          <p:nvPr/>
        </p:nvSpPr>
        <p:spPr>
          <a:xfrm>
            <a:off x="562371" y="329184"/>
            <a:ext cx="41149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7"/>
          <p:cNvSpPr txBox="1"/>
          <p:nvPr/>
        </p:nvSpPr>
        <p:spPr>
          <a:xfrm>
            <a:off x="411491" y="617220"/>
            <a:ext cx="78869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Shipped today, and what's already built but not surfaced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7"/>
          <p:cNvSpPr/>
          <p:nvPr/>
        </p:nvSpPr>
        <p:spPr>
          <a:xfrm>
            <a:off x="411491" y="1371600"/>
            <a:ext cx="3874873" cy="3223260"/>
          </a:xfrm>
          <a:prstGeom prst="roundRect">
            <a:avLst>
              <a:gd fmla="val 5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7"/>
          <p:cNvSpPr txBox="1"/>
          <p:nvPr/>
        </p:nvSpPr>
        <p:spPr>
          <a:xfrm>
            <a:off x="651527" y="1577340"/>
            <a:ext cx="339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158A5E"/>
                </a:solidFill>
                <a:latin typeface="Calibri"/>
                <a:ea typeface="Calibri"/>
                <a:cs typeface="Calibri"/>
                <a:sym typeface="Calibri"/>
              </a:rPr>
              <a:t>Live today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7"/>
          <p:cNvSpPr/>
          <p:nvPr/>
        </p:nvSpPr>
        <p:spPr>
          <a:xfrm>
            <a:off x="651527" y="2016252"/>
            <a:ext cx="68582" cy="68580"/>
          </a:xfrm>
          <a:prstGeom prst="ellipse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7"/>
          <p:cNvSpPr txBox="1"/>
          <p:nvPr/>
        </p:nvSpPr>
        <p:spPr>
          <a:xfrm>
            <a:off x="809266" y="1954530"/>
            <a:ext cx="322334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Opportunities board — the CSM landing screen, all four lanes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7"/>
          <p:cNvSpPr/>
          <p:nvPr/>
        </p:nvSpPr>
        <p:spPr>
          <a:xfrm>
            <a:off x="651527" y="2510028"/>
            <a:ext cx="68582" cy="68580"/>
          </a:xfrm>
          <a:prstGeom prst="ellipse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7"/>
          <p:cNvSpPr txBox="1"/>
          <p:nvPr/>
        </p:nvSpPr>
        <p:spPr>
          <a:xfrm>
            <a:off x="809266" y="2448306"/>
            <a:ext cx="322334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Daily automated research + on-demand “Run now”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7"/>
          <p:cNvSpPr/>
          <p:nvPr/>
        </p:nvSpPr>
        <p:spPr>
          <a:xfrm>
            <a:off x="651527" y="3003804"/>
            <a:ext cx="68582" cy="68580"/>
          </a:xfrm>
          <a:prstGeom prst="ellipse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7"/>
          <p:cNvSpPr txBox="1"/>
          <p:nvPr/>
        </p:nvSpPr>
        <p:spPr>
          <a:xfrm>
            <a:off x="809266" y="2942082"/>
            <a:ext cx="322334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Drafted, editable emails with recipient selection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7"/>
          <p:cNvSpPr/>
          <p:nvPr/>
        </p:nvSpPr>
        <p:spPr>
          <a:xfrm>
            <a:off x="651527" y="3497580"/>
            <a:ext cx="68582" cy="68580"/>
          </a:xfrm>
          <a:prstGeom prst="ellipse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7"/>
          <p:cNvSpPr txBox="1"/>
          <p:nvPr/>
        </p:nvSpPr>
        <p:spPr>
          <a:xfrm>
            <a:off x="809266" y="3435858"/>
            <a:ext cx="322334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MCP server for Claude Desktop / any MCP client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7"/>
          <p:cNvSpPr/>
          <p:nvPr/>
        </p:nvSpPr>
        <p:spPr>
          <a:xfrm>
            <a:off x="651527" y="3991356"/>
            <a:ext cx="68582" cy="68580"/>
          </a:xfrm>
          <a:prstGeom prst="ellipse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7"/>
          <p:cNvSpPr txBox="1"/>
          <p:nvPr/>
        </p:nvSpPr>
        <p:spPr>
          <a:xfrm>
            <a:off x="809266" y="3929634"/>
            <a:ext cx="322334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Today &amp; Ask — agent-drafted worklist + plain-English Q&amp;A, now on the landing nav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7"/>
          <p:cNvSpPr/>
          <p:nvPr/>
        </p:nvSpPr>
        <p:spPr>
          <a:xfrm>
            <a:off x="4492110" y="1371600"/>
            <a:ext cx="3874873" cy="3223260"/>
          </a:xfrm>
          <a:prstGeom prst="roundRect">
            <a:avLst>
              <a:gd fmla="val 5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7"/>
          <p:cNvSpPr txBox="1"/>
          <p:nvPr/>
        </p:nvSpPr>
        <p:spPr>
          <a:xfrm>
            <a:off x="4732146" y="1577340"/>
            <a:ext cx="339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342378"/>
                </a:solidFill>
                <a:latin typeface="Calibri"/>
                <a:ea typeface="Calibri"/>
                <a:cs typeface="Calibri"/>
                <a:sym typeface="Calibri"/>
              </a:rPr>
              <a:t>Built, not yet in the nav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47"/>
          <p:cNvSpPr/>
          <p:nvPr/>
        </p:nvSpPr>
        <p:spPr>
          <a:xfrm>
            <a:off x="4732146" y="2016252"/>
            <a:ext cx="68582" cy="68580"/>
          </a:xfrm>
          <a:prstGeom prst="ellipse">
            <a:avLst/>
          </a:prstGeom>
          <a:solidFill>
            <a:srgbClr val="3423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7"/>
          <p:cNvSpPr txBox="1"/>
          <p:nvPr/>
        </p:nvSpPr>
        <p:spPr>
          <a:xfrm>
            <a:off x="4889884" y="1954530"/>
            <a:ext cx="32233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Real usage feed — questionnaire capacity/expiry still sample-tagged, not a live feed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7"/>
          <p:cNvSpPr/>
          <p:nvPr/>
        </p:nvSpPr>
        <p:spPr>
          <a:xfrm>
            <a:off x="4732146" y="2599182"/>
            <a:ext cx="68582" cy="68580"/>
          </a:xfrm>
          <a:prstGeom prst="ellipse">
            <a:avLst/>
          </a:prstGeom>
          <a:solidFill>
            <a:srgbClr val="3423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7"/>
          <p:cNvSpPr txBox="1"/>
          <p:nvPr/>
        </p:nvSpPr>
        <p:spPr>
          <a:xfrm>
            <a:off x="4889884" y="2537460"/>
            <a:ext cx="32233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Salesforce / CRM — replaces seed purchase, discount and sponsor data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7"/>
          <p:cNvSpPr/>
          <p:nvPr/>
        </p:nvSpPr>
        <p:spPr>
          <a:xfrm>
            <a:off x="4732146" y="3182112"/>
            <a:ext cx="68582" cy="68580"/>
          </a:xfrm>
          <a:prstGeom prst="ellipse">
            <a:avLst/>
          </a:prstGeom>
          <a:solidFill>
            <a:srgbClr val="3423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7"/>
          <p:cNvSpPr txBox="1"/>
          <p:nvPr/>
        </p:nvSpPr>
        <p:spPr>
          <a:xfrm>
            <a:off x="4889884" y="3120390"/>
            <a:ext cx="32233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Customers view — per-account drill-down, score chart, decision-makers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7"/>
          <p:cNvSpPr/>
          <p:nvPr/>
        </p:nvSpPr>
        <p:spPr>
          <a:xfrm>
            <a:off x="4732146" y="3765042"/>
            <a:ext cx="68582" cy="68580"/>
          </a:xfrm>
          <a:prstGeom prst="ellipse">
            <a:avLst/>
          </a:prstGeom>
          <a:solidFill>
            <a:srgbClr val="3423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7"/>
          <p:cNvSpPr txBox="1"/>
          <p:nvPr/>
        </p:nvSpPr>
        <p:spPr>
          <a:xfrm>
            <a:off x="4889884" y="3703320"/>
            <a:ext cx="3223346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Manual research path for decision-makers via Claude prompt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7"/>
          <p:cNvSpPr txBox="1"/>
          <p:nvPr/>
        </p:nvSpPr>
        <p:spPr>
          <a:xfrm>
            <a:off x="8229819" y="4855464"/>
            <a:ext cx="4800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4" name="Google Shape;354;p4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6"/>
          <p:cNvSpPr/>
          <p:nvPr/>
        </p:nvSpPr>
        <p:spPr>
          <a:xfrm>
            <a:off x="411491" y="377190"/>
            <a:ext cx="61724" cy="219456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6"/>
          <p:cNvSpPr txBox="1"/>
          <p:nvPr/>
        </p:nvSpPr>
        <p:spPr>
          <a:xfrm>
            <a:off x="562371" y="329184"/>
            <a:ext cx="41149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6"/>
          <p:cNvSpPr txBox="1"/>
          <p:nvPr/>
        </p:nvSpPr>
        <p:spPr>
          <a:xfrm>
            <a:off x="411491" y="617220"/>
            <a:ext cx="78869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GB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The agentic loop, now visible on screen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6"/>
          <p:cNvSpPr/>
          <p:nvPr/>
        </p:nvSpPr>
        <p:spPr>
          <a:xfrm>
            <a:off x="411491" y="1611630"/>
            <a:ext cx="3874873" cy="133731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6"/>
          <p:cNvSpPr/>
          <p:nvPr/>
        </p:nvSpPr>
        <p:spPr>
          <a:xfrm>
            <a:off x="411491" y="1611630"/>
            <a:ext cx="54865" cy="133731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6"/>
          <p:cNvSpPr txBox="1"/>
          <p:nvPr/>
        </p:nvSpPr>
        <p:spPr>
          <a:xfrm>
            <a:off x="617236" y="1762506"/>
            <a:ext cx="34633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1. Plan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6"/>
          <p:cNvSpPr txBox="1"/>
          <p:nvPr/>
        </p:nvSpPr>
        <p:spPr>
          <a:xfrm>
            <a:off x="617236" y="2105406"/>
            <a:ext cx="3463382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Surveys the whole portfolio in one cheap call before deciding where to look closer.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6"/>
          <p:cNvSpPr/>
          <p:nvPr/>
        </p:nvSpPr>
        <p:spPr>
          <a:xfrm>
            <a:off x="4492110" y="1611630"/>
            <a:ext cx="3874873" cy="133731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6"/>
          <p:cNvSpPr/>
          <p:nvPr/>
        </p:nvSpPr>
        <p:spPr>
          <a:xfrm>
            <a:off x="4492110" y="1611630"/>
            <a:ext cx="54865" cy="1337310"/>
          </a:xfrm>
          <a:prstGeom prst="rect">
            <a:avLst/>
          </a:prstGeom>
          <a:solidFill>
            <a:srgbClr val="3423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6"/>
          <p:cNvSpPr txBox="1"/>
          <p:nvPr/>
        </p:nvSpPr>
        <p:spPr>
          <a:xfrm>
            <a:off x="4697855" y="1762506"/>
            <a:ext cx="34633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2. Execute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6"/>
          <p:cNvSpPr txBox="1"/>
          <p:nvPr/>
        </p:nvSpPr>
        <p:spPr>
          <a:xfrm>
            <a:off x="4697855" y="2105406"/>
            <a:ext cx="3463382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Drills into 2-4 accounts and drafts the outreach, grounded in what it actually found.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6"/>
          <p:cNvSpPr/>
          <p:nvPr/>
        </p:nvSpPr>
        <p:spPr>
          <a:xfrm>
            <a:off x="411491" y="3154680"/>
            <a:ext cx="3874873" cy="133731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6"/>
          <p:cNvSpPr/>
          <p:nvPr/>
        </p:nvSpPr>
        <p:spPr>
          <a:xfrm>
            <a:off x="411491" y="3154680"/>
            <a:ext cx="54865" cy="133731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6"/>
          <p:cNvSpPr txBox="1"/>
          <p:nvPr/>
        </p:nvSpPr>
        <p:spPr>
          <a:xfrm>
            <a:off x="617236" y="3305556"/>
            <a:ext cx="34633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3. Reflect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6"/>
          <p:cNvSpPr txBox="1"/>
          <p:nvPr/>
        </p:nvSpPr>
        <p:spPr>
          <a:xfrm>
            <a:off x="617236" y="3648456"/>
            <a:ext cx="3463382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Checks its own draft -- specific? grounded in real numbers? free of hype? -- before committing to it.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6"/>
          <p:cNvSpPr/>
          <p:nvPr/>
        </p:nvSpPr>
        <p:spPr>
          <a:xfrm>
            <a:off x="4492110" y="3154680"/>
            <a:ext cx="3874873" cy="1337310"/>
          </a:xfrm>
          <a:prstGeom prst="roundRect">
            <a:avLst>
              <a:gd fmla="val 6000" name="adj"/>
            </a:avLst>
          </a:prstGeom>
          <a:solidFill>
            <a:srgbClr val="F7F5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6"/>
          <p:cNvSpPr/>
          <p:nvPr/>
        </p:nvSpPr>
        <p:spPr>
          <a:xfrm>
            <a:off x="4492110" y="3154680"/>
            <a:ext cx="54865" cy="1337310"/>
          </a:xfrm>
          <a:prstGeom prst="rect">
            <a:avLst/>
          </a:prstGeom>
          <a:solidFill>
            <a:srgbClr val="34237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6"/>
          <p:cNvSpPr txBox="1"/>
          <p:nvPr/>
        </p:nvSpPr>
        <p:spPr>
          <a:xfrm>
            <a:off x="4697855" y="3305556"/>
            <a:ext cx="34633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4. Act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6"/>
          <p:cNvSpPr txBox="1"/>
          <p:nvPr/>
        </p:nvSpPr>
        <p:spPr>
          <a:xfrm>
            <a:off x="4697855" y="3648456"/>
            <a:ext cx="3463382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GB" sz="12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Queues the outreach as a durable record a CSM approves or dismisses -- the only tool call that writes anything.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6"/>
          <p:cNvSpPr txBox="1"/>
          <p:nvPr/>
        </p:nvSpPr>
        <p:spPr>
          <a:xfrm>
            <a:off x="8229819" y="4855464"/>
            <a:ext cx="4800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6*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8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8"/>
          <p:cNvSpPr/>
          <p:nvPr/>
        </p:nvSpPr>
        <p:spPr>
          <a:xfrm>
            <a:off x="411480" y="374904"/>
            <a:ext cx="64008" cy="219456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8"/>
          <p:cNvSpPr txBox="1"/>
          <p:nvPr/>
        </p:nvSpPr>
        <p:spPr>
          <a:xfrm>
            <a:off x="566928" y="3291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CRITERION 1 — FITS THEME</a:t>
            </a:r>
            <a:endParaRPr/>
          </a:p>
        </p:txBody>
      </p:sp>
      <p:sp>
        <p:nvSpPr>
          <p:cNvPr id="413" name="Google Shape;413;p48"/>
          <p:cNvSpPr txBox="1"/>
          <p:nvPr/>
        </p:nvSpPr>
        <p:spPr>
          <a:xfrm>
            <a:off x="411480" y="621792"/>
            <a:ext cx="78912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Agents decide; every signal is an API call</a:t>
            </a:r>
            <a:endParaRPr/>
          </a:p>
        </p:txBody>
      </p:sp>
      <p:sp>
        <p:nvSpPr>
          <p:cNvPr id="414" name="Google Shape;414;p48"/>
          <p:cNvSpPr txBox="1"/>
          <p:nvPr/>
        </p:nvSpPr>
        <p:spPr>
          <a:xfrm>
            <a:off x="411480" y="1060704"/>
            <a:ext cx="7818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Not a dashboard with an LLM bolted on — the deciding is done by agents, and the data is all API.</a:t>
            </a:r>
            <a:endParaRPr/>
          </a:p>
        </p:txBody>
      </p:sp>
      <p:sp>
        <p:nvSpPr>
          <p:cNvPr id="415" name="Google Shape;415;p48"/>
          <p:cNvSpPr txBox="1"/>
          <p:nvPr/>
        </p:nvSpPr>
        <p:spPr>
          <a:xfrm>
            <a:off x="8229600" y="4855464"/>
            <a:ext cx="4846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16" name="Google Shape;416;p48"/>
          <p:cNvSpPr/>
          <p:nvPr/>
        </p:nvSpPr>
        <p:spPr>
          <a:xfrm>
            <a:off x="411480" y="1609344"/>
            <a:ext cx="7955279" cy="649224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8"/>
          <p:cNvSpPr/>
          <p:nvPr/>
        </p:nvSpPr>
        <p:spPr>
          <a:xfrm>
            <a:off x="411480" y="1609344"/>
            <a:ext cx="82296" cy="649224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48"/>
          <p:cNvSpPr txBox="1"/>
          <p:nvPr/>
        </p:nvSpPr>
        <p:spPr>
          <a:xfrm>
            <a:off x="649224" y="1700784"/>
            <a:ext cx="20574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Agentic</a:t>
            </a:r>
            <a:endParaRPr/>
          </a:p>
        </p:txBody>
      </p:sp>
      <p:sp>
        <p:nvSpPr>
          <p:cNvPr id="419" name="Google Shape;419;p48"/>
          <p:cNvSpPr txBox="1"/>
          <p:nvPr/>
        </p:nvSpPr>
        <p:spPr>
          <a:xfrm>
            <a:off x="2816352" y="1700784"/>
            <a:ext cx="542239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 daily agent runs unattended and judges which stories are real events. Over MCP, an agent chooses which accounts to examine — surveying 13, drilling into 2–3.</a:t>
            </a:r>
            <a:endParaRPr/>
          </a:p>
        </p:txBody>
      </p:sp>
      <p:sp>
        <p:nvSpPr>
          <p:cNvPr id="420" name="Google Shape;420;p48"/>
          <p:cNvSpPr/>
          <p:nvPr/>
        </p:nvSpPr>
        <p:spPr>
          <a:xfrm>
            <a:off x="411480" y="2386584"/>
            <a:ext cx="7955279" cy="649224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8"/>
          <p:cNvSpPr/>
          <p:nvPr/>
        </p:nvSpPr>
        <p:spPr>
          <a:xfrm>
            <a:off x="411480" y="2386584"/>
            <a:ext cx="82296" cy="649224"/>
          </a:xfrm>
          <a:prstGeom prst="rect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8"/>
          <p:cNvSpPr txBox="1"/>
          <p:nvPr/>
        </p:nvSpPr>
        <p:spPr>
          <a:xfrm>
            <a:off x="649224" y="2478024"/>
            <a:ext cx="20574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API-first</a:t>
            </a:r>
            <a:endParaRPr/>
          </a:p>
        </p:txBody>
      </p:sp>
      <p:sp>
        <p:nvSpPr>
          <p:cNvPr id="423" name="Google Shape;423;p48"/>
          <p:cNvSpPr txBox="1"/>
          <p:nvPr/>
        </p:nvSpPr>
        <p:spPr>
          <a:xfrm>
            <a:off x="2816352" y="2478024"/>
            <a:ext cx="542239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Scores, history and third-party supplier risk all come from SecurityScorecard APIs. No SSC frontend is involved anywhere in the product.</a:t>
            </a:r>
            <a:endParaRPr/>
          </a:p>
        </p:txBody>
      </p:sp>
      <p:sp>
        <p:nvSpPr>
          <p:cNvPr id="424" name="Google Shape;424;p48"/>
          <p:cNvSpPr/>
          <p:nvPr/>
        </p:nvSpPr>
        <p:spPr>
          <a:xfrm>
            <a:off x="411480" y="3163824"/>
            <a:ext cx="7955279" cy="649224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8"/>
          <p:cNvSpPr/>
          <p:nvPr/>
        </p:nvSpPr>
        <p:spPr>
          <a:xfrm>
            <a:off x="411480" y="3163824"/>
            <a:ext cx="82296" cy="649224"/>
          </a:xfrm>
          <a:prstGeom prst="rect">
            <a:avLst/>
          </a:prstGeom>
          <a:solidFill>
            <a:srgbClr val="D9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8"/>
          <p:cNvSpPr txBox="1"/>
          <p:nvPr/>
        </p:nvSpPr>
        <p:spPr>
          <a:xfrm>
            <a:off x="649224" y="3255264"/>
            <a:ext cx="20574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No UI required</a:t>
            </a:r>
            <a:endParaRPr/>
          </a:p>
        </p:txBody>
      </p:sp>
      <p:sp>
        <p:nvSpPr>
          <p:cNvPr id="427" name="Google Shape;427;p48"/>
          <p:cNvSpPr txBox="1"/>
          <p:nvPr/>
        </p:nvSpPr>
        <p:spPr>
          <a:xfrm>
            <a:off x="2816352" y="3255264"/>
            <a:ext cx="542239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An MCP server exposes the same five portfolio tools to any MCP client, so a CSM can work the whole portfolio from Claude Desktop with no interface of ours at all.</a:t>
            </a:r>
            <a:endParaRPr/>
          </a:p>
        </p:txBody>
      </p:sp>
      <p:sp>
        <p:nvSpPr>
          <p:cNvPr id="428" name="Google Shape;428;p48"/>
          <p:cNvSpPr/>
          <p:nvPr/>
        </p:nvSpPr>
        <p:spPr>
          <a:xfrm>
            <a:off x="411480" y="3941063"/>
            <a:ext cx="7955279" cy="649224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8"/>
          <p:cNvSpPr/>
          <p:nvPr/>
        </p:nvSpPr>
        <p:spPr>
          <a:xfrm>
            <a:off x="411480" y="3941063"/>
            <a:ext cx="82296" cy="649224"/>
          </a:xfrm>
          <a:prstGeom prst="rect">
            <a:avLst/>
          </a:prstGeom>
          <a:solidFill>
            <a:srgbClr val="5D5A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8"/>
          <p:cNvSpPr txBox="1"/>
          <p:nvPr/>
        </p:nvSpPr>
        <p:spPr>
          <a:xfrm>
            <a:off x="649224" y="4032503"/>
            <a:ext cx="20574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Workflow reimagined</a:t>
            </a:r>
            <a:endParaRPr/>
          </a:p>
        </p:txBody>
      </p:sp>
      <p:sp>
        <p:nvSpPr>
          <p:cNvPr id="431" name="Google Shape;431;p48"/>
          <p:cNvSpPr txBox="1"/>
          <p:nvPr/>
        </p:nvSpPr>
        <p:spPr>
          <a:xfrm>
            <a:off x="2816352" y="4032503"/>
            <a:ext cx="5422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Before: a CSM opens each account and hunts for a reason to call. </a:t>
            </a:r>
            <a:endParaRPr b="0" i="0" sz="1150" u="none" cap="none" strike="noStrike"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After:</a:t>
            </a:r>
            <a:r>
              <a:rPr lang="en-GB" sz="1150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the reason finds them, with the email already drafted and the source article attached.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/>
          <p:nvPr/>
        </p:nvSpPr>
        <p:spPr>
          <a:xfrm>
            <a:off x="0" y="0"/>
            <a:ext cx="9144000" cy="513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9"/>
          <p:cNvSpPr/>
          <p:nvPr/>
        </p:nvSpPr>
        <p:spPr>
          <a:xfrm>
            <a:off x="411480" y="374904"/>
            <a:ext cx="63900" cy="21960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9"/>
          <p:cNvSpPr txBox="1"/>
          <p:nvPr/>
        </p:nvSpPr>
        <p:spPr>
          <a:xfrm>
            <a:off x="566928" y="329184"/>
            <a:ext cx="4114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CRITERION 2 — PRACTICALITY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9"/>
          <p:cNvSpPr txBox="1"/>
          <p:nvPr/>
        </p:nvSpPr>
        <p:spPr>
          <a:xfrm>
            <a:off x="411480" y="621792"/>
            <a:ext cx="7891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GB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Built to save the hours CSMs already lose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9"/>
          <p:cNvSpPr txBox="1"/>
          <p:nvPr/>
        </p:nvSpPr>
        <p:spPr>
          <a:xfrm>
            <a:off x="411480" y="1060704"/>
            <a:ext cx="781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SMART goal: cut weekly portfolio review from a half-day sweep to a 25-minute pass, per CSM.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9"/>
          <p:cNvSpPr txBox="1"/>
          <p:nvPr/>
        </p:nvSpPr>
        <p:spPr>
          <a:xfrm>
            <a:off x="8229600" y="4855464"/>
            <a:ext cx="484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9"/>
          <p:cNvSpPr/>
          <p:nvPr/>
        </p:nvSpPr>
        <p:spPr>
          <a:xfrm>
            <a:off x="411480" y="1554480"/>
            <a:ext cx="1872300" cy="960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9"/>
          <p:cNvSpPr txBox="1"/>
          <p:nvPr/>
        </p:nvSpPr>
        <p:spPr>
          <a:xfrm>
            <a:off x="539496" y="1673352"/>
            <a:ext cx="16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15 → 2 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9"/>
          <p:cNvSpPr txBox="1"/>
          <p:nvPr/>
        </p:nvSpPr>
        <p:spPr>
          <a:xfrm>
            <a:off x="539496" y="2121408"/>
            <a:ext cx="1616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per account reviewed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9"/>
          <p:cNvSpPr/>
          <p:nvPr/>
        </p:nvSpPr>
        <p:spPr>
          <a:xfrm>
            <a:off x="2439162" y="1554480"/>
            <a:ext cx="1872300" cy="960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9"/>
          <p:cNvSpPr txBox="1"/>
          <p:nvPr/>
        </p:nvSpPr>
        <p:spPr>
          <a:xfrm>
            <a:off x="2567178" y="1673352"/>
            <a:ext cx="16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158A5E"/>
                </a:solidFill>
                <a:latin typeface="Calibri"/>
                <a:ea typeface="Calibri"/>
                <a:cs typeface="Calibri"/>
                <a:sym typeface="Calibri"/>
              </a:rPr>
              <a:t>~169 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9"/>
          <p:cNvSpPr txBox="1"/>
          <p:nvPr/>
        </p:nvSpPr>
        <p:spPr>
          <a:xfrm>
            <a:off x="2567178" y="2121408"/>
            <a:ext cx="1616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saved per weekly sweep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9"/>
          <p:cNvSpPr/>
          <p:nvPr/>
        </p:nvSpPr>
        <p:spPr>
          <a:xfrm>
            <a:off x="4466844" y="1554480"/>
            <a:ext cx="1872300" cy="960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9"/>
          <p:cNvSpPr txBox="1"/>
          <p:nvPr/>
        </p:nvSpPr>
        <p:spPr>
          <a:xfrm>
            <a:off x="4594859" y="1673352"/>
            <a:ext cx="16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D98E2B"/>
                </a:solidFill>
                <a:latin typeface="Calibri"/>
                <a:ea typeface="Calibri"/>
                <a:cs typeface="Calibri"/>
                <a:sym typeface="Calibri"/>
              </a:rPr>
              <a:t>~146 hrs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9"/>
          <p:cNvSpPr txBox="1"/>
          <p:nvPr/>
        </p:nvSpPr>
        <p:spPr>
          <a:xfrm>
            <a:off x="4594859" y="2121408"/>
            <a:ext cx="1616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per CSM per year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9"/>
          <p:cNvSpPr/>
          <p:nvPr/>
        </p:nvSpPr>
        <p:spPr>
          <a:xfrm>
            <a:off x="6494526" y="1554480"/>
            <a:ext cx="1872300" cy="960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9"/>
          <p:cNvSpPr txBox="1"/>
          <p:nvPr/>
        </p:nvSpPr>
        <p:spPr>
          <a:xfrm>
            <a:off x="6622542" y="1673352"/>
            <a:ext cx="16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GB" sz="26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38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9"/>
          <p:cNvSpPr txBox="1"/>
          <p:nvPr/>
        </p:nvSpPr>
        <p:spPr>
          <a:xfrm>
            <a:off x="6622542" y="2121408"/>
            <a:ext cx="1616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GB" sz="9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surfaced across 13 live accounts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9"/>
          <p:cNvSpPr/>
          <p:nvPr/>
        </p:nvSpPr>
        <p:spPr>
          <a:xfrm>
            <a:off x="411480" y="2743200"/>
            <a:ext cx="7955400" cy="567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9"/>
          <p:cNvSpPr/>
          <p:nvPr/>
        </p:nvSpPr>
        <p:spPr>
          <a:xfrm>
            <a:off x="411480" y="2743200"/>
            <a:ext cx="82200" cy="56700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9"/>
          <p:cNvSpPr txBox="1"/>
          <p:nvPr/>
        </p:nvSpPr>
        <p:spPr>
          <a:xfrm>
            <a:off x="649224" y="2834640"/>
            <a:ext cx="205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Specific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49"/>
          <p:cNvSpPr txBox="1"/>
          <p:nvPr/>
        </p:nvSpPr>
        <p:spPr>
          <a:xfrm>
            <a:off x="2816352" y="2834640"/>
            <a:ext cx="5422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One board replaces checking score, usage, supplier risk and news account by account.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9"/>
          <p:cNvSpPr/>
          <p:nvPr/>
        </p:nvSpPr>
        <p:spPr>
          <a:xfrm>
            <a:off x="411480" y="3401568"/>
            <a:ext cx="7955400" cy="567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9"/>
          <p:cNvSpPr/>
          <p:nvPr/>
        </p:nvSpPr>
        <p:spPr>
          <a:xfrm>
            <a:off x="411480" y="3401568"/>
            <a:ext cx="82200" cy="567000"/>
          </a:xfrm>
          <a:prstGeom prst="rect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9"/>
          <p:cNvSpPr txBox="1"/>
          <p:nvPr/>
        </p:nvSpPr>
        <p:spPr>
          <a:xfrm>
            <a:off x="649224" y="3493008"/>
            <a:ext cx="205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Measurable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9"/>
          <p:cNvSpPr txBox="1"/>
          <p:nvPr/>
        </p:nvSpPr>
        <p:spPr>
          <a:xfrm>
            <a:off x="2816352" y="3493008"/>
            <a:ext cx="542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13 accounts × 38 signals today; the daily research pass completes in under 5 minutes unattended.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9"/>
          <p:cNvSpPr/>
          <p:nvPr/>
        </p:nvSpPr>
        <p:spPr>
          <a:xfrm>
            <a:off x="411480" y="4059935"/>
            <a:ext cx="7955400" cy="567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9"/>
          <p:cNvSpPr/>
          <p:nvPr/>
        </p:nvSpPr>
        <p:spPr>
          <a:xfrm>
            <a:off x="411480" y="4059935"/>
            <a:ext cx="82200" cy="567000"/>
          </a:xfrm>
          <a:prstGeom prst="rect">
            <a:avLst/>
          </a:prstGeom>
          <a:solidFill>
            <a:srgbClr val="D9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9"/>
          <p:cNvSpPr txBox="1"/>
          <p:nvPr/>
        </p:nvSpPr>
        <p:spPr>
          <a:xfrm>
            <a:off x="649224" y="4151375"/>
            <a:ext cx="205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Quality of life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9"/>
          <p:cNvSpPr txBox="1"/>
          <p:nvPr/>
        </p:nvSpPr>
        <p:spPr>
          <a:xfrm>
            <a:off x="2816352" y="4151375"/>
            <a:ext cx="542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The unglamorous part — hunting for a reason to make contact — is the part that disappears.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9"/>
          <p:cNvSpPr txBox="1"/>
          <p:nvPr/>
        </p:nvSpPr>
        <p:spPr>
          <a:xfrm>
            <a:off x="411480" y="4645152"/>
            <a:ext cx="79554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Time figures are a stated model: 15 min manual review vs 2 min to action a pre-drafted card, across 13 accounts, reviewed weekly.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0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50"/>
          <p:cNvSpPr/>
          <p:nvPr/>
        </p:nvSpPr>
        <p:spPr>
          <a:xfrm>
            <a:off x="411480" y="374904"/>
            <a:ext cx="64008" cy="219456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50"/>
          <p:cNvSpPr txBox="1"/>
          <p:nvPr/>
        </p:nvSpPr>
        <p:spPr>
          <a:xfrm>
            <a:off x="566928" y="3291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CRITERION 3 — BUSINESS POTENTIAL</a:t>
            </a:r>
            <a:endParaRPr/>
          </a:p>
        </p:txBody>
      </p:sp>
      <p:sp>
        <p:nvSpPr>
          <p:cNvPr id="474" name="Google Shape;474;p50"/>
          <p:cNvSpPr txBox="1"/>
          <p:nvPr/>
        </p:nvSpPr>
        <p:spPr>
          <a:xfrm>
            <a:off x="411480" y="621792"/>
            <a:ext cx="78912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Four ways this grows SecurityScorecard ARR</a:t>
            </a:r>
            <a:endParaRPr/>
          </a:p>
        </p:txBody>
      </p:sp>
      <p:sp>
        <p:nvSpPr>
          <p:cNvPr id="475" name="Google Shape;475;p50"/>
          <p:cNvSpPr txBox="1"/>
          <p:nvPr/>
        </p:nvSpPr>
        <p:spPr>
          <a:xfrm>
            <a:off x="411480" y="1060704"/>
            <a:ext cx="7818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For the customer, earlier warning. For the company, more upsell conversations, better timed.</a:t>
            </a:r>
            <a:endParaRPr/>
          </a:p>
        </p:txBody>
      </p:sp>
      <p:sp>
        <p:nvSpPr>
          <p:cNvPr id="476" name="Google Shape;476;p50"/>
          <p:cNvSpPr txBox="1"/>
          <p:nvPr/>
        </p:nvSpPr>
        <p:spPr>
          <a:xfrm>
            <a:off x="8229600" y="4855464"/>
            <a:ext cx="4846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77" name="Google Shape;477;p50"/>
          <p:cNvSpPr/>
          <p:nvPr/>
        </p:nvSpPr>
        <p:spPr>
          <a:xfrm>
            <a:off x="411480" y="1517904"/>
            <a:ext cx="1911095" cy="1810512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50"/>
          <p:cNvSpPr/>
          <p:nvPr/>
        </p:nvSpPr>
        <p:spPr>
          <a:xfrm>
            <a:off x="411480" y="1517904"/>
            <a:ext cx="1911095" cy="54864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0"/>
          <p:cNvSpPr txBox="1"/>
          <p:nvPr/>
        </p:nvSpPr>
        <p:spPr>
          <a:xfrm>
            <a:off x="566928" y="1700784"/>
            <a:ext cx="16093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More upsell conversations</a:t>
            </a:r>
            <a:endParaRPr/>
          </a:p>
        </p:txBody>
      </p:sp>
      <p:sp>
        <p:nvSpPr>
          <p:cNvPr id="480" name="Google Shape;480;p50"/>
          <p:cNvSpPr txBox="1"/>
          <p:nvPr/>
        </p:nvSpPr>
        <p:spPr>
          <a:xfrm>
            <a:off x="566928" y="2103120"/>
            <a:ext cx="1609344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Every account is reviewed weekly, not just the loudest. Signals that used to expire unnoticed now reach the CSM who owns the account.</a:t>
            </a:r>
            <a:endParaRPr/>
          </a:p>
        </p:txBody>
      </p:sp>
      <p:sp>
        <p:nvSpPr>
          <p:cNvPr id="481" name="Google Shape;481;p50"/>
          <p:cNvSpPr/>
          <p:nvPr/>
        </p:nvSpPr>
        <p:spPr>
          <a:xfrm>
            <a:off x="2514600" y="1517904"/>
            <a:ext cx="1911095" cy="1810512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50"/>
          <p:cNvSpPr/>
          <p:nvPr/>
        </p:nvSpPr>
        <p:spPr>
          <a:xfrm>
            <a:off x="2514600" y="1517904"/>
            <a:ext cx="1911095" cy="54864"/>
          </a:xfrm>
          <a:prstGeom prst="rect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50"/>
          <p:cNvSpPr txBox="1"/>
          <p:nvPr/>
        </p:nvSpPr>
        <p:spPr>
          <a:xfrm>
            <a:off x="2670048" y="1700784"/>
            <a:ext cx="16093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Better-timed outreach</a:t>
            </a:r>
            <a:endParaRPr/>
          </a:p>
        </p:txBody>
      </p:sp>
      <p:sp>
        <p:nvSpPr>
          <p:cNvPr id="484" name="Google Shape;484;p50"/>
          <p:cNvSpPr txBox="1"/>
          <p:nvPr/>
        </p:nvSpPr>
        <p:spPr>
          <a:xfrm>
            <a:off x="2670048" y="2103120"/>
            <a:ext cx="1609344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Contact lands while the acquisition or launch is still news — when expanding coverage is an easy yes, not a cold ask.</a:t>
            </a:r>
            <a:endParaRPr/>
          </a:p>
        </p:txBody>
      </p:sp>
      <p:sp>
        <p:nvSpPr>
          <p:cNvPr id="485" name="Google Shape;485;p50"/>
          <p:cNvSpPr/>
          <p:nvPr/>
        </p:nvSpPr>
        <p:spPr>
          <a:xfrm>
            <a:off x="4608576" y="1517904"/>
            <a:ext cx="1911095" cy="1810512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50"/>
          <p:cNvSpPr/>
          <p:nvPr/>
        </p:nvSpPr>
        <p:spPr>
          <a:xfrm>
            <a:off x="4608576" y="1517904"/>
            <a:ext cx="1911095" cy="54864"/>
          </a:xfrm>
          <a:prstGeom prst="rect">
            <a:avLst/>
          </a:prstGeom>
          <a:solidFill>
            <a:srgbClr val="D9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0"/>
          <p:cNvSpPr txBox="1"/>
          <p:nvPr/>
        </p:nvSpPr>
        <p:spPr>
          <a:xfrm>
            <a:off x="4764024" y="1700784"/>
            <a:ext cx="16093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Retention through proof</a:t>
            </a:r>
            <a:endParaRPr/>
          </a:p>
        </p:txBody>
      </p:sp>
      <p:sp>
        <p:nvSpPr>
          <p:cNvPr id="488" name="Google Shape;488;p50"/>
          <p:cNvSpPr txBox="1"/>
          <p:nvPr/>
        </p:nvSpPr>
        <p:spPr>
          <a:xfrm>
            <a:off x="4764024" y="2103120"/>
            <a:ext cx="1609344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Score gains and early supplier warnings become renewal evidence the customer can see, at exactly the right moment.</a:t>
            </a:r>
            <a:endParaRPr/>
          </a:p>
        </p:txBody>
      </p:sp>
      <p:sp>
        <p:nvSpPr>
          <p:cNvPr id="489" name="Google Shape;489;p50"/>
          <p:cNvSpPr/>
          <p:nvPr/>
        </p:nvSpPr>
        <p:spPr>
          <a:xfrm>
            <a:off x="6711696" y="1517904"/>
            <a:ext cx="1911095" cy="1810512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0"/>
          <p:cNvSpPr/>
          <p:nvPr/>
        </p:nvSpPr>
        <p:spPr>
          <a:xfrm>
            <a:off x="6711696" y="1517904"/>
            <a:ext cx="1911095" cy="54864"/>
          </a:xfrm>
          <a:prstGeom prst="rect">
            <a:avLst/>
          </a:prstGeom>
          <a:solidFill>
            <a:srgbClr val="5D5A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50"/>
          <p:cNvSpPr txBox="1"/>
          <p:nvPr/>
        </p:nvSpPr>
        <p:spPr>
          <a:xfrm>
            <a:off x="6867144" y="1700784"/>
            <a:ext cx="16093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Capacity, not headcount</a:t>
            </a:r>
            <a:endParaRPr/>
          </a:p>
        </p:txBody>
      </p:sp>
      <p:sp>
        <p:nvSpPr>
          <p:cNvPr id="492" name="Google Shape;492;p50"/>
          <p:cNvSpPr txBox="1"/>
          <p:nvPr/>
        </p:nvSpPr>
        <p:spPr>
          <a:xfrm>
            <a:off x="6867144" y="2103120"/>
            <a:ext cx="1609344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 CSM covers more accounts at the same quality, so portfolio growth doesn't require proportional hiring.</a:t>
            </a:r>
            <a:endParaRPr/>
          </a:p>
        </p:txBody>
      </p:sp>
      <p:sp>
        <p:nvSpPr>
          <p:cNvPr id="493" name="Google Shape;493;p50"/>
          <p:cNvSpPr txBox="1"/>
          <p:nvPr/>
        </p:nvSpPr>
        <p:spPr>
          <a:xfrm>
            <a:off x="411480" y="345643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PATH TO PRODUCTION</a:t>
            </a:r>
            <a:endParaRPr/>
          </a:p>
        </p:txBody>
      </p:sp>
      <p:sp>
        <p:nvSpPr>
          <p:cNvPr id="494" name="Google Shape;494;p50"/>
          <p:cNvSpPr/>
          <p:nvPr/>
        </p:nvSpPr>
        <p:spPr>
          <a:xfrm>
            <a:off x="411480" y="3730752"/>
            <a:ext cx="1892807" cy="786384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50"/>
          <p:cNvSpPr/>
          <p:nvPr/>
        </p:nvSpPr>
        <p:spPr>
          <a:xfrm>
            <a:off x="411480" y="3730752"/>
            <a:ext cx="1892807" cy="4572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50"/>
          <p:cNvSpPr txBox="1"/>
          <p:nvPr/>
        </p:nvSpPr>
        <p:spPr>
          <a:xfrm>
            <a:off x="530352" y="3840480"/>
            <a:ext cx="165506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/>
          </a:p>
        </p:txBody>
      </p:sp>
      <p:sp>
        <p:nvSpPr>
          <p:cNvPr id="497" name="Google Shape;497;p50"/>
          <p:cNvSpPr txBox="1"/>
          <p:nvPr/>
        </p:nvSpPr>
        <p:spPr>
          <a:xfrm>
            <a:off x="530352" y="4032504"/>
            <a:ext cx="165506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/>
          </a:p>
        </p:txBody>
      </p:sp>
      <p:sp>
        <p:nvSpPr>
          <p:cNvPr id="498" name="Google Shape;498;p50"/>
          <p:cNvSpPr txBox="1"/>
          <p:nvPr/>
        </p:nvSpPr>
        <p:spPr>
          <a:xfrm>
            <a:off x="530352" y="4224528"/>
            <a:ext cx="16550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Board, daily research and MCP server running on 13 live accounts.</a:t>
            </a:r>
            <a:endParaRPr/>
          </a:p>
        </p:txBody>
      </p:sp>
      <p:sp>
        <p:nvSpPr>
          <p:cNvPr id="499" name="Google Shape;499;p50"/>
          <p:cNvSpPr/>
          <p:nvPr/>
        </p:nvSpPr>
        <p:spPr>
          <a:xfrm>
            <a:off x="2432304" y="3730752"/>
            <a:ext cx="1892807" cy="786384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50"/>
          <p:cNvSpPr/>
          <p:nvPr/>
        </p:nvSpPr>
        <p:spPr>
          <a:xfrm>
            <a:off x="2432304" y="3730752"/>
            <a:ext cx="1892807" cy="45720"/>
          </a:xfrm>
          <a:prstGeom prst="rect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50"/>
          <p:cNvSpPr txBox="1"/>
          <p:nvPr/>
        </p:nvSpPr>
        <p:spPr>
          <a:xfrm>
            <a:off x="2551176" y="3840480"/>
            <a:ext cx="165506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Internal testing</a:t>
            </a:r>
            <a:endParaRPr/>
          </a:p>
        </p:txBody>
      </p:sp>
      <p:sp>
        <p:nvSpPr>
          <p:cNvPr id="502" name="Google Shape;502;p50"/>
          <p:cNvSpPr txBox="1"/>
          <p:nvPr/>
        </p:nvSpPr>
        <p:spPr>
          <a:xfrm>
            <a:off x="2551176" y="4032504"/>
            <a:ext cx="165506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50" u="none" cap="none" strike="noStrike">
                <a:solidFill>
                  <a:srgbClr val="158A5E"/>
                </a:solidFill>
                <a:latin typeface="Calibri"/>
                <a:ea typeface="Calibri"/>
                <a:cs typeface="Calibri"/>
                <a:sym typeface="Calibri"/>
              </a:rPr>
              <a:t>2 weeks</a:t>
            </a:r>
            <a:endParaRPr/>
          </a:p>
        </p:txBody>
      </p:sp>
      <p:sp>
        <p:nvSpPr>
          <p:cNvPr id="503" name="Google Shape;503;p50"/>
          <p:cNvSpPr txBox="1"/>
          <p:nvPr/>
        </p:nvSpPr>
        <p:spPr>
          <a:xfrm>
            <a:off x="2551176" y="4224528"/>
            <a:ext cx="16550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Connect the usage feed, run against the full customer portfolio.</a:t>
            </a:r>
            <a:endParaRPr/>
          </a:p>
        </p:txBody>
      </p:sp>
      <p:sp>
        <p:nvSpPr>
          <p:cNvPr id="504" name="Google Shape;504;p50"/>
          <p:cNvSpPr/>
          <p:nvPr/>
        </p:nvSpPr>
        <p:spPr>
          <a:xfrm>
            <a:off x="4453128" y="3730752"/>
            <a:ext cx="1892807" cy="786384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50"/>
          <p:cNvSpPr/>
          <p:nvPr/>
        </p:nvSpPr>
        <p:spPr>
          <a:xfrm>
            <a:off x="4453128" y="3730752"/>
            <a:ext cx="1892807" cy="45720"/>
          </a:xfrm>
          <a:prstGeom prst="rect">
            <a:avLst/>
          </a:prstGeom>
          <a:solidFill>
            <a:srgbClr val="D9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50"/>
          <p:cNvSpPr txBox="1"/>
          <p:nvPr/>
        </p:nvSpPr>
        <p:spPr>
          <a:xfrm>
            <a:off x="4572000" y="3840480"/>
            <a:ext cx="165506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Beta with CSMs</a:t>
            </a:r>
            <a:endParaRPr/>
          </a:p>
        </p:txBody>
      </p:sp>
      <p:sp>
        <p:nvSpPr>
          <p:cNvPr id="507" name="Google Shape;507;p50"/>
          <p:cNvSpPr txBox="1"/>
          <p:nvPr/>
        </p:nvSpPr>
        <p:spPr>
          <a:xfrm>
            <a:off x="4572000" y="4032504"/>
            <a:ext cx="165506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50" u="none" cap="none" strike="noStrike">
                <a:solidFill>
                  <a:srgbClr val="D98E2B"/>
                </a:solidFill>
                <a:latin typeface="Calibri"/>
                <a:ea typeface="Calibri"/>
                <a:cs typeface="Calibri"/>
                <a:sym typeface="Calibri"/>
              </a:rPr>
              <a:t>4 weeks</a:t>
            </a:r>
            <a:endParaRPr/>
          </a:p>
        </p:txBody>
      </p:sp>
      <p:sp>
        <p:nvSpPr>
          <p:cNvPr id="508" name="Google Shape;508;p50"/>
          <p:cNvSpPr txBox="1"/>
          <p:nvPr/>
        </p:nvSpPr>
        <p:spPr>
          <a:xfrm>
            <a:off x="4572000" y="4224528"/>
            <a:ext cx="16550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3–5 CSMs in daily use; measure minutes saved and upsells opened.</a:t>
            </a:r>
            <a:endParaRPr/>
          </a:p>
        </p:txBody>
      </p:sp>
      <p:sp>
        <p:nvSpPr>
          <p:cNvPr id="509" name="Google Shape;509;p50"/>
          <p:cNvSpPr/>
          <p:nvPr/>
        </p:nvSpPr>
        <p:spPr>
          <a:xfrm>
            <a:off x="6473952" y="3730752"/>
            <a:ext cx="1892807" cy="786384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50"/>
          <p:cNvSpPr/>
          <p:nvPr/>
        </p:nvSpPr>
        <p:spPr>
          <a:xfrm>
            <a:off x="6473952" y="3730752"/>
            <a:ext cx="1892807" cy="45720"/>
          </a:xfrm>
          <a:prstGeom prst="rect">
            <a:avLst/>
          </a:prstGeom>
          <a:solidFill>
            <a:srgbClr val="5D5A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50"/>
          <p:cNvSpPr txBox="1"/>
          <p:nvPr/>
        </p:nvSpPr>
        <p:spPr>
          <a:xfrm>
            <a:off x="6592824" y="3840480"/>
            <a:ext cx="1655063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Go live</a:t>
            </a:r>
            <a:endParaRPr/>
          </a:p>
        </p:txBody>
      </p:sp>
      <p:sp>
        <p:nvSpPr>
          <p:cNvPr id="512" name="Google Shape;512;p50"/>
          <p:cNvSpPr txBox="1"/>
          <p:nvPr/>
        </p:nvSpPr>
        <p:spPr>
          <a:xfrm>
            <a:off x="6592824" y="4032504"/>
            <a:ext cx="1655063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Quarter end</a:t>
            </a:r>
            <a:endParaRPr/>
          </a:p>
        </p:txBody>
      </p:sp>
      <p:sp>
        <p:nvSpPr>
          <p:cNvPr id="513" name="Google Shape;513;p50"/>
          <p:cNvSpPr txBox="1"/>
          <p:nvPr/>
        </p:nvSpPr>
        <p:spPr>
          <a:xfrm>
            <a:off x="6592824" y="4224528"/>
            <a:ext cx="1655063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All CSMs, with Salesforce sync and the Titan API swapped in.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1"/>
          <p:cNvSpPr txBox="1"/>
          <p:nvPr/>
        </p:nvSpPr>
        <p:spPr>
          <a:xfrm>
            <a:off x="3182975" y="188955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space in the slides reserved for [Gantt Chart to show Path to Production after we win the Hackathon]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2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52"/>
          <p:cNvSpPr/>
          <p:nvPr/>
        </p:nvSpPr>
        <p:spPr>
          <a:xfrm>
            <a:off x="411480" y="374904"/>
            <a:ext cx="64008" cy="219456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2"/>
          <p:cNvSpPr txBox="1"/>
          <p:nvPr/>
        </p:nvSpPr>
        <p:spPr>
          <a:xfrm>
            <a:off x="566928" y="3291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CRITERION 4 — TOKEN EFFICIENCY</a:t>
            </a:r>
            <a:endParaRPr/>
          </a:p>
        </p:txBody>
      </p:sp>
      <p:sp>
        <p:nvSpPr>
          <p:cNvPr id="526" name="Google Shape;526;p52"/>
          <p:cNvSpPr txBox="1"/>
          <p:nvPr/>
        </p:nvSpPr>
        <p:spPr>
          <a:xfrm>
            <a:off x="411480" y="621792"/>
            <a:ext cx="78912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The dashboard itself costs nothing to run</a:t>
            </a:r>
            <a:endParaRPr/>
          </a:p>
        </p:txBody>
      </p:sp>
      <p:sp>
        <p:nvSpPr>
          <p:cNvPr id="527" name="Google Shape;527;p52"/>
          <p:cNvSpPr txBox="1"/>
          <p:nvPr/>
        </p:nvSpPr>
        <p:spPr>
          <a:xfrm>
            <a:off x="411480" y="1060704"/>
            <a:ext cx="7818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Measured on what the product actually calls today — not on features that aren't in the UI.</a:t>
            </a:r>
            <a:endParaRPr/>
          </a:p>
        </p:txBody>
      </p:sp>
      <p:sp>
        <p:nvSpPr>
          <p:cNvPr id="528" name="Google Shape;528;p52"/>
          <p:cNvSpPr txBox="1"/>
          <p:nvPr/>
        </p:nvSpPr>
        <p:spPr>
          <a:xfrm>
            <a:off x="8229600" y="4855464"/>
            <a:ext cx="4846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529" name="Google Shape;529;p52"/>
          <p:cNvSpPr/>
          <p:nvPr/>
        </p:nvSpPr>
        <p:spPr>
          <a:xfrm>
            <a:off x="411480" y="1517904"/>
            <a:ext cx="1872234" cy="932688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52"/>
          <p:cNvSpPr txBox="1"/>
          <p:nvPr/>
        </p:nvSpPr>
        <p:spPr>
          <a:xfrm>
            <a:off x="539496" y="1627631"/>
            <a:ext cx="1616201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31" name="Google Shape;531;p52"/>
          <p:cNvSpPr txBox="1"/>
          <p:nvPr/>
        </p:nvSpPr>
        <p:spPr>
          <a:xfrm>
            <a:off x="539496" y="2066543"/>
            <a:ext cx="1616201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tokens to browse the board</a:t>
            </a:r>
            <a:endParaRPr/>
          </a:p>
        </p:txBody>
      </p:sp>
      <p:sp>
        <p:nvSpPr>
          <p:cNvPr id="532" name="Google Shape;532;p52"/>
          <p:cNvSpPr/>
          <p:nvPr/>
        </p:nvSpPr>
        <p:spPr>
          <a:xfrm>
            <a:off x="2439162" y="1517904"/>
            <a:ext cx="1872234" cy="932688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2"/>
          <p:cNvSpPr txBox="1"/>
          <p:nvPr/>
        </p:nvSpPr>
        <p:spPr>
          <a:xfrm>
            <a:off x="2567178" y="1627631"/>
            <a:ext cx="1616201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158A5E"/>
                </a:solidFill>
                <a:latin typeface="Calibri"/>
                <a:ea typeface="Calibri"/>
                <a:cs typeface="Calibri"/>
                <a:sym typeface="Calibri"/>
              </a:rPr>
              <a:t>~1.3k</a:t>
            </a:r>
            <a:endParaRPr/>
          </a:p>
        </p:txBody>
      </p:sp>
      <p:sp>
        <p:nvSpPr>
          <p:cNvPr id="534" name="Google Shape;534;p52"/>
          <p:cNvSpPr txBox="1"/>
          <p:nvPr/>
        </p:nvSpPr>
        <p:spPr>
          <a:xfrm>
            <a:off x="2567178" y="2066543"/>
            <a:ext cx="1616201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tokens per account, per day</a:t>
            </a:r>
            <a:endParaRPr/>
          </a:p>
        </p:txBody>
      </p:sp>
      <p:sp>
        <p:nvSpPr>
          <p:cNvPr id="535" name="Google Shape;535;p52"/>
          <p:cNvSpPr/>
          <p:nvPr/>
        </p:nvSpPr>
        <p:spPr>
          <a:xfrm>
            <a:off x="4466844" y="1517904"/>
            <a:ext cx="1872234" cy="932688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52"/>
          <p:cNvSpPr txBox="1"/>
          <p:nvPr/>
        </p:nvSpPr>
        <p:spPr>
          <a:xfrm>
            <a:off x="4594859" y="1627631"/>
            <a:ext cx="1616201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D98E2B"/>
                </a:solidFill>
                <a:latin typeface="Calibri"/>
                <a:ea typeface="Calibri"/>
                <a:cs typeface="Calibri"/>
                <a:sym typeface="Calibri"/>
              </a:rPr>
              <a:t>~16.7k</a:t>
            </a:r>
            <a:endParaRPr/>
          </a:p>
        </p:txBody>
      </p:sp>
      <p:sp>
        <p:nvSpPr>
          <p:cNvPr id="537" name="Google Shape;537;p52"/>
          <p:cNvSpPr txBox="1"/>
          <p:nvPr/>
        </p:nvSpPr>
        <p:spPr>
          <a:xfrm>
            <a:off x="4594859" y="2066543"/>
            <a:ext cx="1616201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full daily run, 13 accounts</a:t>
            </a:r>
            <a:endParaRPr/>
          </a:p>
        </p:txBody>
      </p:sp>
      <p:sp>
        <p:nvSpPr>
          <p:cNvPr id="538" name="Google Shape;538;p52"/>
          <p:cNvSpPr/>
          <p:nvPr/>
        </p:nvSpPr>
        <p:spPr>
          <a:xfrm>
            <a:off x="6494526" y="1517904"/>
            <a:ext cx="1872234" cy="932688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52"/>
          <p:cNvSpPr txBox="1"/>
          <p:nvPr/>
        </p:nvSpPr>
        <p:spPr>
          <a:xfrm>
            <a:off x="6622542" y="1627631"/>
            <a:ext cx="1616201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$1.08</a:t>
            </a:r>
            <a:endParaRPr/>
          </a:p>
        </p:txBody>
      </p:sp>
      <p:sp>
        <p:nvSpPr>
          <p:cNvPr id="540" name="Google Shape;540;p52"/>
          <p:cNvSpPr txBox="1"/>
          <p:nvPr/>
        </p:nvSpPr>
        <p:spPr>
          <a:xfrm>
            <a:off x="6622542" y="2066543"/>
            <a:ext cx="1616201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total model spend per year</a:t>
            </a:r>
            <a:endParaRPr/>
          </a:p>
        </p:txBody>
      </p:sp>
      <p:sp>
        <p:nvSpPr>
          <p:cNvPr id="541" name="Google Shape;541;p52"/>
          <p:cNvSpPr/>
          <p:nvPr/>
        </p:nvSpPr>
        <p:spPr>
          <a:xfrm>
            <a:off x="411480" y="2724912"/>
            <a:ext cx="7955279" cy="566928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52"/>
          <p:cNvSpPr/>
          <p:nvPr/>
        </p:nvSpPr>
        <p:spPr>
          <a:xfrm>
            <a:off x="411480" y="2724912"/>
            <a:ext cx="82296" cy="566928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52"/>
          <p:cNvSpPr txBox="1"/>
          <p:nvPr/>
        </p:nvSpPr>
        <p:spPr>
          <a:xfrm>
            <a:off x="649224" y="2779776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One model call</a:t>
            </a:r>
            <a:endParaRPr/>
          </a:p>
        </p:txBody>
      </p:sp>
      <p:sp>
        <p:nvSpPr>
          <p:cNvPr id="544" name="Google Shape;544;p52"/>
          <p:cNvSpPr txBox="1"/>
          <p:nvPr/>
        </p:nvSpPr>
        <p:spPr>
          <a:xfrm>
            <a:off x="2816352" y="2779776"/>
            <a:ext cx="5422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Scores, usage, supplier risk and every card are computed without a model. The only LLM call is the daily news extraction.</a:t>
            </a:r>
            <a:endParaRPr/>
          </a:p>
        </p:txBody>
      </p:sp>
      <p:sp>
        <p:nvSpPr>
          <p:cNvPr id="545" name="Google Shape;545;p52"/>
          <p:cNvSpPr/>
          <p:nvPr/>
        </p:nvSpPr>
        <p:spPr>
          <a:xfrm>
            <a:off x="411480" y="3383280"/>
            <a:ext cx="7955279" cy="566928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2"/>
          <p:cNvSpPr/>
          <p:nvPr/>
        </p:nvSpPr>
        <p:spPr>
          <a:xfrm>
            <a:off x="411480" y="3383280"/>
            <a:ext cx="82296" cy="566928"/>
          </a:xfrm>
          <a:prstGeom prst="rect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2"/>
          <p:cNvSpPr txBox="1"/>
          <p:nvPr/>
        </p:nvSpPr>
        <p:spPr>
          <a:xfrm>
            <a:off x="649224" y="3438144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Headlines, not articles</a:t>
            </a:r>
            <a:endParaRPr/>
          </a:p>
        </p:txBody>
      </p:sp>
      <p:sp>
        <p:nvSpPr>
          <p:cNvPr id="548" name="Google Shape;548;p52"/>
          <p:cNvSpPr txBox="1"/>
          <p:nvPr/>
        </p:nvSpPr>
        <p:spPr>
          <a:xfrm>
            <a:off x="2816352" y="3438144"/>
            <a:ext cx="5422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Extraction reads Google News headlines only, never article bodies — the single biggest saving, and why a full run is under 17k tokens.</a:t>
            </a:r>
            <a:endParaRPr/>
          </a:p>
        </p:txBody>
      </p:sp>
      <p:sp>
        <p:nvSpPr>
          <p:cNvPr id="549" name="Google Shape;549;p52"/>
          <p:cNvSpPr/>
          <p:nvPr/>
        </p:nvSpPr>
        <p:spPr>
          <a:xfrm>
            <a:off x="411480" y="4041648"/>
            <a:ext cx="7955279" cy="566928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2"/>
          <p:cNvSpPr/>
          <p:nvPr/>
        </p:nvSpPr>
        <p:spPr>
          <a:xfrm>
            <a:off x="411480" y="4041648"/>
            <a:ext cx="82296" cy="566928"/>
          </a:xfrm>
          <a:prstGeom prst="rect">
            <a:avLst/>
          </a:prstGeom>
          <a:solidFill>
            <a:srgbClr val="D9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2"/>
          <p:cNvSpPr txBox="1"/>
          <p:nvPr/>
        </p:nvSpPr>
        <p:spPr>
          <a:xfrm>
            <a:off x="649224" y="4096511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Measured, not estimated</a:t>
            </a:r>
            <a:endParaRPr/>
          </a:p>
        </p:txBody>
      </p:sp>
      <p:sp>
        <p:nvSpPr>
          <p:cNvPr id="552" name="Google Shape;552;p52"/>
          <p:cNvSpPr txBox="1"/>
          <p:nvPr/>
        </p:nvSpPr>
        <p:spPr>
          <a:xfrm>
            <a:off x="2816352" y="4096511"/>
            <a:ext cx="5422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Figures are the usage OpenAI returns, averaged across four accounts on gpt-4o-mini.</a:t>
            </a:r>
            <a:endParaRPr/>
          </a:p>
        </p:txBody>
      </p:sp>
      <p:sp>
        <p:nvSpPr>
          <p:cNvPr id="553" name="Google Shape;553;p52"/>
          <p:cNvSpPr txBox="1"/>
          <p:nvPr/>
        </p:nvSpPr>
        <p:spPr>
          <a:xfrm>
            <a:off x="411480" y="4626864"/>
            <a:ext cx="795527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Measured 12 Aug 2026, gpt-4o-mini at list price ($0.15 / $1M in, $0.60 / $1M out). Cost scales per account, so 130 accounts is roughly $11 a year.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3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3"/>
          <p:cNvSpPr/>
          <p:nvPr/>
        </p:nvSpPr>
        <p:spPr>
          <a:xfrm>
            <a:off x="411480" y="374904"/>
            <a:ext cx="64008" cy="219456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53"/>
          <p:cNvSpPr txBox="1"/>
          <p:nvPr/>
        </p:nvSpPr>
        <p:spPr>
          <a:xfrm>
            <a:off x="566928" y="3291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CRITERION 5 — WOW FACTOR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53"/>
          <p:cNvSpPr txBox="1"/>
          <p:nvPr/>
        </p:nvSpPr>
        <p:spPr>
          <a:xfrm>
            <a:off x="411480" y="621792"/>
            <a:ext cx="78912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GB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A live demo, on real accounts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3"/>
          <p:cNvSpPr txBox="1"/>
          <p:nvPr/>
        </p:nvSpPr>
        <p:spPr>
          <a:xfrm>
            <a:off x="411480" y="1060704"/>
            <a:ext cx="7818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Manual review versus the automated pass, measured on the same 13 accounts.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3"/>
          <p:cNvSpPr txBox="1"/>
          <p:nvPr/>
        </p:nvSpPr>
        <p:spPr>
          <a:xfrm>
            <a:off x="8229600" y="4855464"/>
            <a:ext cx="4846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53"/>
          <p:cNvSpPr/>
          <p:nvPr/>
        </p:nvSpPr>
        <p:spPr>
          <a:xfrm>
            <a:off x="4956048" y="1536192"/>
            <a:ext cx="3410712" cy="475488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53"/>
          <p:cNvSpPr txBox="1"/>
          <p:nvPr/>
        </p:nvSpPr>
        <p:spPr>
          <a:xfrm>
            <a:off x="5102352" y="1600200"/>
            <a:ext cx="3154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1.  The board, live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3"/>
          <p:cNvSpPr txBox="1"/>
          <p:nvPr/>
        </p:nvSpPr>
        <p:spPr>
          <a:xfrm>
            <a:off x="5102352" y="1792224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38 signals, 13 real accounts, every card tagged.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3"/>
          <p:cNvSpPr/>
          <p:nvPr/>
        </p:nvSpPr>
        <p:spPr>
          <a:xfrm>
            <a:off x="4956048" y="2084831"/>
            <a:ext cx="3410712" cy="475488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3"/>
          <p:cNvSpPr txBox="1"/>
          <p:nvPr/>
        </p:nvSpPr>
        <p:spPr>
          <a:xfrm>
            <a:off x="5102352" y="2148839"/>
            <a:ext cx="3154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2.  One click to 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53"/>
          <p:cNvSpPr txBox="1"/>
          <p:nvPr/>
        </p:nvSpPr>
        <p:spPr>
          <a:xfrm>
            <a:off x="5102352" y="2340863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Drafted email, right recipient, article attached.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3"/>
          <p:cNvSpPr/>
          <p:nvPr/>
        </p:nvSpPr>
        <p:spPr>
          <a:xfrm>
            <a:off x="4956048" y="2633472"/>
            <a:ext cx="3410712" cy="475488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53"/>
          <p:cNvSpPr txBox="1"/>
          <p:nvPr/>
        </p:nvSpPr>
        <p:spPr>
          <a:xfrm>
            <a:off x="5102352" y="2697479"/>
            <a:ext cx="3154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3.  It ran by itself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53"/>
          <p:cNvSpPr txBox="1"/>
          <p:nvPr/>
        </p:nvSpPr>
        <p:spPr>
          <a:xfrm>
            <a:off x="5102352" y="2889504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13 accounts researched today, unattended.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3"/>
          <p:cNvSpPr/>
          <p:nvPr/>
        </p:nvSpPr>
        <p:spPr>
          <a:xfrm>
            <a:off x="4956048" y="3182111"/>
            <a:ext cx="3410712" cy="475488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53"/>
          <p:cNvSpPr txBox="1"/>
          <p:nvPr/>
        </p:nvSpPr>
        <p:spPr>
          <a:xfrm>
            <a:off x="5102352" y="3246119"/>
            <a:ext cx="3154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4.  What we haven't built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53"/>
          <p:cNvSpPr txBox="1"/>
          <p:nvPr/>
        </p:nvSpPr>
        <p:spPr>
          <a:xfrm>
            <a:off x="5102352" y="3438144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All 23 triggers, each naming the data it needs.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53"/>
          <p:cNvSpPr/>
          <p:nvPr/>
        </p:nvSpPr>
        <p:spPr>
          <a:xfrm>
            <a:off x="4956048" y="3730752"/>
            <a:ext cx="3410712" cy="475488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3"/>
          <p:cNvSpPr txBox="1"/>
          <p:nvPr/>
        </p:nvSpPr>
        <p:spPr>
          <a:xfrm>
            <a:off x="5102352" y="3794760"/>
            <a:ext cx="3154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GB" sz="105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5.  No UI at 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3"/>
          <p:cNvSpPr txBox="1"/>
          <p:nvPr/>
        </p:nvSpPr>
        <p:spPr>
          <a:xfrm>
            <a:off x="5102352" y="3986784"/>
            <a:ext cx="3154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The same tools, answering live over MCP.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53"/>
          <p:cNvSpPr txBox="1"/>
          <p:nvPr/>
        </p:nvSpPr>
        <p:spPr>
          <a:xfrm>
            <a:off x="411480" y="4645152"/>
            <a:ext cx="79554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GB" sz="8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Stated model, per account: 9 min finding a trigger, 4 min drafting, 2 min reviewing — across 13 accounts. Total 195 min manual vs 26 min with the dashboard.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0" name="Google Shape;58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349" y="1419475"/>
            <a:ext cx="4411951" cy="27388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4"/>
          <p:cNvSpPr/>
          <p:nvPr/>
        </p:nvSpPr>
        <p:spPr>
          <a:xfrm>
            <a:off x="411480" y="374904"/>
            <a:ext cx="63900" cy="21960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54"/>
          <p:cNvSpPr txBox="1"/>
          <p:nvPr/>
        </p:nvSpPr>
        <p:spPr>
          <a:xfrm>
            <a:off x="566928" y="329184"/>
            <a:ext cx="4114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50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The Dashboard</a:t>
            </a:r>
            <a:endParaRPr/>
          </a:p>
        </p:txBody>
      </p:sp>
      <p:sp>
        <p:nvSpPr>
          <p:cNvPr id="587" name="Google Shape;587;p54"/>
          <p:cNvSpPr txBox="1"/>
          <p:nvPr/>
        </p:nvSpPr>
        <p:spPr>
          <a:xfrm>
            <a:off x="411480" y="621792"/>
            <a:ext cx="7891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2900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Upselling Automation Dashboard</a:t>
            </a:r>
            <a:endParaRPr b="1" sz="2900">
              <a:solidFill>
                <a:srgbClr val="1C15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54"/>
          <p:cNvSpPr txBox="1"/>
          <p:nvPr/>
        </p:nvSpPr>
        <p:spPr>
          <a:xfrm>
            <a:off x="411480" y="1060704"/>
            <a:ext cx="781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An AI agent that helps CSMs upsell existing customers — surfacing every signal across the portfolio, built on SecurityScorecard APIs.</a:t>
            </a:r>
            <a:endParaRPr>
              <a:solidFill>
                <a:srgbClr val="5D5A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54"/>
          <p:cNvSpPr txBox="1"/>
          <p:nvPr/>
        </p:nvSpPr>
        <p:spPr>
          <a:xfrm>
            <a:off x="8229600" y="4855464"/>
            <a:ext cx="484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590" name="Google Shape;590;p54"/>
          <p:cNvSpPr/>
          <p:nvPr/>
        </p:nvSpPr>
        <p:spPr>
          <a:xfrm>
            <a:off x="923825" y="1595188"/>
            <a:ext cx="7305900" cy="31515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542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INSERT THE DASHBOARD</a:t>
            </a:r>
            <a:endParaRPr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5"/>
          <p:cNvSpPr txBox="1"/>
          <p:nvPr/>
        </p:nvSpPr>
        <p:spPr>
          <a:xfrm>
            <a:off x="1998900" y="1353275"/>
            <a:ext cx="56217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0">
                <a:solidFill>
                  <a:schemeClr val="dk2"/>
                </a:solidFill>
              </a:rPr>
              <a:t>DIVIDER</a:t>
            </a:r>
            <a:endParaRPr sz="10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6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56"/>
          <p:cNvSpPr/>
          <p:nvPr/>
        </p:nvSpPr>
        <p:spPr>
          <a:xfrm>
            <a:off x="411480" y="374904"/>
            <a:ext cx="64008" cy="219456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56"/>
          <p:cNvSpPr txBox="1"/>
          <p:nvPr/>
        </p:nvSpPr>
        <p:spPr>
          <a:xfrm>
            <a:off x="566928" y="32918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CRITERION 3 — BUSINESS POTENTIAL</a:t>
            </a:r>
            <a:endParaRPr/>
          </a:p>
        </p:txBody>
      </p:sp>
      <p:sp>
        <p:nvSpPr>
          <p:cNvPr id="603" name="Google Shape;603;p56"/>
          <p:cNvSpPr txBox="1"/>
          <p:nvPr/>
        </p:nvSpPr>
        <p:spPr>
          <a:xfrm>
            <a:off x="411480" y="621792"/>
            <a:ext cx="789127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Four ways this grows SecurityScorecard ARR</a:t>
            </a:r>
            <a:endParaRPr/>
          </a:p>
        </p:txBody>
      </p:sp>
      <p:sp>
        <p:nvSpPr>
          <p:cNvPr id="604" name="Google Shape;604;p56"/>
          <p:cNvSpPr txBox="1"/>
          <p:nvPr/>
        </p:nvSpPr>
        <p:spPr>
          <a:xfrm>
            <a:off x="411480" y="1060704"/>
            <a:ext cx="7818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For the customer, earlier warning. For the company, more upsell conversations, better timed.</a:t>
            </a:r>
            <a:endParaRPr/>
          </a:p>
        </p:txBody>
      </p:sp>
      <p:sp>
        <p:nvSpPr>
          <p:cNvPr id="605" name="Google Shape;605;p56"/>
          <p:cNvSpPr txBox="1"/>
          <p:nvPr/>
        </p:nvSpPr>
        <p:spPr>
          <a:xfrm>
            <a:off x="8229600" y="4855464"/>
            <a:ext cx="4846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06" name="Google Shape;606;p56"/>
          <p:cNvSpPr/>
          <p:nvPr/>
        </p:nvSpPr>
        <p:spPr>
          <a:xfrm>
            <a:off x="411480" y="1572768"/>
            <a:ext cx="1911095" cy="210312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56"/>
          <p:cNvSpPr/>
          <p:nvPr/>
        </p:nvSpPr>
        <p:spPr>
          <a:xfrm>
            <a:off x="411480" y="1572768"/>
            <a:ext cx="1911095" cy="54864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56"/>
          <p:cNvSpPr txBox="1"/>
          <p:nvPr/>
        </p:nvSpPr>
        <p:spPr>
          <a:xfrm>
            <a:off x="566928" y="1783080"/>
            <a:ext cx="160934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More upsell conversations</a:t>
            </a:r>
            <a:endParaRPr/>
          </a:p>
        </p:txBody>
      </p:sp>
      <p:sp>
        <p:nvSpPr>
          <p:cNvPr id="609" name="Google Shape;609;p56"/>
          <p:cNvSpPr txBox="1"/>
          <p:nvPr/>
        </p:nvSpPr>
        <p:spPr>
          <a:xfrm>
            <a:off x="566928" y="2231136"/>
            <a:ext cx="16093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Every account gets reviewed every week instead of the loudest ones. Signals that used to expire unnoticed now reach the CSM who owns the account.</a:t>
            </a:r>
            <a:endParaRPr/>
          </a:p>
        </p:txBody>
      </p:sp>
      <p:sp>
        <p:nvSpPr>
          <p:cNvPr id="610" name="Google Shape;610;p56"/>
          <p:cNvSpPr/>
          <p:nvPr/>
        </p:nvSpPr>
        <p:spPr>
          <a:xfrm>
            <a:off x="2514600" y="1572768"/>
            <a:ext cx="1911095" cy="210312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6"/>
          <p:cNvSpPr/>
          <p:nvPr/>
        </p:nvSpPr>
        <p:spPr>
          <a:xfrm>
            <a:off x="2514600" y="1572768"/>
            <a:ext cx="1911095" cy="54864"/>
          </a:xfrm>
          <a:prstGeom prst="rect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56"/>
          <p:cNvSpPr txBox="1"/>
          <p:nvPr/>
        </p:nvSpPr>
        <p:spPr>
          <a:xfrm>
            <a:off x="2670048" y="1783080"/>
            <a:ext cx="160934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Better-timed outreach</a:t>
            </a:r>
            <a:endParaRPr/>
          </a:p>
        </p:txBody>
      </p:sp>
      <p:sp>
        <p:nvSpPr>
          <p:cNvPr id="613" name="Google Shape;613;p56"/>
          <p:cNvSpPr txBox="1"/>
          <p:nvPr/>
        </p:nvSpPr>
        <p:spPr>
          <a:xfrm>
            <a:off x="2670048" y="2231136"/>
            <a:ext cx="16093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Contact lands while the acquisition or launch is still news, which is when expanding coverage is an easy yes rather than a cold ask.</a:t>
            </a:r>
            <a:endParaRPr/>
          </a:p>
        </p:txBody>
      </p:sp>
      <p:sp>
        <p:nvSpPr>
          <p:cNvPr id="614" name="Google Shape;614;p56"/>
          <p:cNvSpPr/>
          <p:nvPr/>
        </p:nvSpPr>
        <p:spPr>
          <a:xfrm>
            <a:off x="4608576" y="1572768"/>
            <a:ext cx="1911095" cy="210312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56"/>
          <p:cNvSpPr/>
          <p:nvPr/>
        </p:nvSpPr>
        <p:spPr>
          <a:xfrm>
            <a:off x="4608576" y="1572768"/>
            <a:ext cx="1911095" cy="54864"/>
          </a:xfrm>
          <a:prstGeom prst="rect">
            <a:avLst/>
          </a:prstGeom>
          <a:solidFill>
            <a:srgbClr val="D9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56"/>
          <p:cNvSpPr txBox="1"/>
          <p:nvPr/>
        </p:nvSpPr>
        <p:spPr>
          <a:xfrm>
            <a:off x="4764024" y="1783080"/>
            <a:ext cx="160934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Retention through proof</a:t>
            </a:r>
            <a:endParaRPr/>
          </a:p>
        </p:txBody>
      </p:sp>
      <p:sp>
        <p:nvSpPr>
          <p:cNvPr id="617" name="Google Shape;617;p56"/>
          <p:cNvSpPr txBox="1"/>
          <p:nvPr/>
        </p:nvSpPr>
        <p:spPr>
          <a:xfrm>
            <a:off x="4764024" y="2231136"/>
            <a:ext cx="16093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Score improvements and early supplier warnings become renewal evidence the customer can see, lowering churn risk at exactly the right moment.</a:t>
            </a:r>
            <a:endParaRPr/>
          </a:p>
        </p:txBody>
      </p:sp>
      <p:sp>
        <p:nvSpPr>
          <p:cNvPr id="618" name="Google Shape;618;p56"/>
          <p:cNvSpPr/>
          <p:nvPr/>
        </p:nvSpPr>
        <p:spPr>
          <a:xfrm>
            <a:off x="6711696" y="1572768"/>
            <a:ext cx="1911095" cy="210312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56"/>
          <p:cNvSpPr/>
          <p:nvPr/>
        </p:nvSpPr>
        <p:spPr>
          <a:xfrm>
            <a:off x="6711696" y="1572768"/>
            <a:ext cx="1911095" cy="54864"/>
          </a:xfrm>
          <a:prstGeom prst="rect">
            <a:avLst/>
          </a:prstGeom>
          <a:solidFill>
            <a:srgbClr val="5D5A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56"/>
          <p:cNvSpPr txBox="1"/>
          <p:nvPr/>
        </p:nvSpPr>
        <p:spPr>
          <a:xfrm>
            <a:off x="6867144" y="1783080"/>
            <a:ext cx="160934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Capacity, not headcount</a:t>
            </a:r>
            <a:endParaRPr/>
          </a:p>
        </p:txBody>
      </p:sp>
      <p:sp>
        <p:nvSpPr>
          <p:cNvPr id="621" name="Google Shape;621;p56"/>
          <p:cNvSpPr txBox="1"/>
          <p:nvPr/>
        </p:nvSpPr>
        <p:spPr>
          <a:xfrm>
            <a:off x="6867144" y="2231136"/>
            <a:ext cx="160934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A CSM covers more accounts at the same quality, so portfolio growth doesn't require proportional hiring.</a:t>
            </a:r>
            <a:endParaRPr/>
          </a:p>
        </p:txBody>
      </p:sp>
      <p:sp>
        <p:nvSpPr>
          <p:cNvPr id="622" name="Google Shape;622;p56"/>
          <p:cNvSpPr/>
          <p:nvPr/>
        </p:nvSpPr>
        <p:spPr>
          <a:xfrm>
            <a:off x="411480" y="3840480"/>
            <a:ext cx="7955279" cy="64008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56"/>
          <p:cNvSpPr/>
          <p:nvPr/>
        </p:nvSpPr>
        <p:spPr>
          <a:xfrm>
            <a:off x="411480" y="3840480"/>
            <a:ext cx="82296" cy="64008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56"/>
          <p:cNvSpPr txBox="1"/>
          <p:nvPr/>
        </p:nvSpPr>
        <p:spPr>
          <a:xfrm>
            <a:off x="649224" y="3931920"/>
            <a:ext cx="2057400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Path to production</a:t>
            </a:r>
            <a:endParaRPr/>
          </a:p>
        </p:txBody>
      </p:sp>
      <p:sp>
        <p:nvSpPr>
          <p:cNvPr id="625" name="Google Shape;625;p56"/>
          <p:cNvSpPr txBox="1"/>
          <p:nvPr/>
        </p:nvSpPr>
        <p:spPr>
          <a:xfrm>
            <a:off x="2816352" y="3931920"/>
            <a:ext cx="5422392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Every gap is a connection, not a rebuild: usage feed → 4 more triggers live; Salesforce → CRM data and meeting triggers; Titan API swaps behind one module.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7"/>
          <p:cNvSpPr/>
          <p:nvPr/>
        </p:nvSpPr>
        <p:spPr>
          <a:xfrm>
            <a:off x="0" y="0"/>
            <a:ext cx="9144000" cy="513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7"/>
          <p:cNvSpPr/>
          <p:nvPr/>
        </p:nvSpPr>
        <p:spPr>
          <a:xfrm>
            <a:off x="411480" y="374904"/>
            <a:ext cx="63900" cy="21960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7"/>
          <p:cNvSpPr txBox="1"/>
          <p:nvPr/>
        </p:nvSpPr>
        <p:spPr>
          <a:xfrm>
            <a:off x="566928" y="329184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5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CRITERION 4 — TOKEN EFFICIENCY</a:t>
            </a:r>
            <a:endParaRPr/>
          </a:p>
        </p:txBody>
      </p:sp>
      <p:sp>
        <p:nvSpPr>
          <p:cNvPr id="633" name="Google Shape;633;p57"/>
          <p:cNvSpPr txBox="1"/>
          <p:nvPr/>
        </p:nvSpPr>
        <p:spPr>
          <a:xfrm>
            <a:off x="411480" y="621792"/>
            <a:ext cx="78912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9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Survey cheaply, then drill selectively</a:t>
            </a:r>
            <a:endParaRPr/>
          </a:p>
        </p:txBody>
      </p:sp>
      <p:sp>
        <p:nvSpPr>
          <p:cNvPr id="634" name="Google Shape;634;p57"/>
          <p:cNvSpPr txBox="1"/>
          <p:nvPr/>
        </p:nvSpPr>
        <p:spPr>
          <a:xfrm>
            <a:off x="411480" y="1060704"/>
            <a:ext cx="7818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Token cost is measured through the API and reported in the response, not estimated.</a:t>
            </a:r>
            <a:endParaRPr/>
          </a:p>
        </p:txBody>
      </p:sp>
      <p:sp>
        <p:nvSpPr>
          <p:cNvPr id="635" name="Google Shape;635;p57"/>
          <p:cNvSpPr txBox="1"/>
          <p:nvPr/>
        </p:nvSpPr>
        <p:spPr>
          <a:xfrm>
            <a:off x="8229600" y="4855464"/>
            <a:ext cx="484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36" name="Google Shape;636;p57"/>
          <p:cNvSpPr/>
          <p:nvPr/>
        </p:nvSpPr>
        <p:spPr>
          <a:xfrm>
            <a:off x="411480" y="1554480"/>
            <a:ext cx="1872300" cy="960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57"/>
          <p:cNvSpPr txBox="1"/>
          <p:nvPr/>
        </p:nvSpPr>
        <p:spPr>
          <a:xfrm>
            <a:off x="539496" y="1673352"/>
            <a:ext cx="1616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600" u="none" cap="none" strike="noStrike">
                <a:solidFill>
                  <a:srgbClr val="5422FF"/>
                </a:solidFill>
                <a:latin typeface="Calibri"/>
                <a:ea typeface="Calibri"/>
                <a:cs typeface="Calibri"/>
                <a:sym typeface="Calibri"/>
              </a:rPr>
              <a:t>~4.4k</a:t>
            </a:r>
            <a:endParaRPr/>
          </a:p>
        </p:txBody>
      </p:sp>
      <p:sp>
        <p:nvSpPr>
          <p:cNvPr id="638" name="Google Shape;638;p57"/>
          <p:cNvSpPr txBox="1"/>
          <p:nvPr/>
        </p:nvSpPr>
        <p:spPr>
          <a:xfrm>
            <a:off x="539496" y="2121408"/>
            <a:ext cx="1616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tokens per portfolio question</a:t>
            </a:r>
            <a:endParaRPr/>
          </a:p>
        </p:txBody>
      </p:sp>
      <p:sp>
        <p:nvSpPr>
          <p:cNvPr id="639" name="Google Shape;639;p57"/>
          <p:cNvSpPr/>
          <p:nvPr/>
        </p:nvSpPr>
        <p:spPr>
          <a:xfrm>
            <a:off x="2439162" y="1554480"/>
            <a:ext cx="1872300" cy="960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57"/>
          <p:cNvSpPr txBox="1"/>
          <p:nvPr/>
        </p:nvSpPr>
        <p:spPr>
          <a:xfrm>
            <a:off x="2567178" y="1673352"/>
            <a:ext cx="1616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600" u="none" cap="none" strike="noStrike">
                <a:solidFill>
                  <a:srgbClr val="158A5E"/>
                </a:solidFill>
                <a:latin typeface="Calibri"/>
                <a:ea typeface="Calibri"/>
                <a:cs typeface="Calibri"/>
                <a:sym typeface="Calibri"/>
              </a:rPr>
              <a:t>~5.2k</a:t>
            </a:r>
            <a:endParaRPr/>
          </a:p>
        </p:txBody>
      </p:sp>
      <p:sp>
        <p:nvSpPr>
          <p:cNvPr id="641" name="Google Shape;641;p57"/>
          <p:cNvSpPr txBox="1"/>
          <p:nvPr/>
        </p:nvSpPr>
        <p:spPr>
          <a:xfrm>
            <a:off x="2567178" y="2121408"/>
            <a:ext cx="1616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tokens per daily briefing</a:t>
            </a:r>
            <a:endParaRPr/>
          </a:p>
        </p:txBody>
      </p:sp>
      <p:sp>
        <p:nvSpPr>
          <p:cNvPr id="642" name="Google Shape;642;p57"/>
          <p:cNvSpPr/>
          <p:nvPr/>
        </p:nvSpPr>
        <p:spPr>
          <a:xfrm>
            <a:off x="4466844" y="1554480"/>
            <a:ext cx="1872300" cy="960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57"/>
          <p:cNvSpPr txBox="1"/>
          <p:nvPr/>
        </p:nvSpPr>
        <p:spPr>
          <a:xfrm>
            <a:off x="4594859" y="1673352"/>
            <a:ext cx="1616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600" u="none" cap="none" strike="noStrike">
                <a:solidFill>
                  <a:srgbClr val="D98E2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44" name="Google Shape;644;p57"/>
          <p:cNvSpPr txBox="1"/>
          <p:nvPr/>
        </p:nvSpPr>
        <p:spPr>
          <a:xfrm>
            <a:off x="4594859" y="2121408"/>
            <a:ext cx="1616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tools, each returning a minimal shape</a:t>
            </a:r>
            <a:endParaRPr/>
          </a:p>
        </p:txBody>
      </p:sp>
      <p:sp>
        <p:nvSpPr>
          <p:cNvPr id="645" name="Google Shape;645;p57"/>
          <p:cNvSpPr/>
          <p:nvPr/>
        </p:nvSpPr>
        <p:spPr>
          <a:xfrm>
            <a:off x="6494526" y="1554480"/>
            <a:ext cx="1872300" cy="960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57"/>
          <p:cNvSpPr txBox="1"/>
          <p:nvPr/>
        </p:nvSpPr>
        <p:spPr>
          <a:xfrm>
            <a:off x="6622542" y="1673352"/>
            <a:ext cx="1616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6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gpt-4o-mini</a:t>
            </a:r>
            <a:endParaRPr/>
          </a:p>
        </p:txBody>
      </p:sp>
      <p:sp>
        <p:nvSpPr>
          <p:cNvPr id="647" name="Google Shape;647;p57"/>
          <p:cNvSpPr txBox="1"/>
          <p:nvPr/>
        </p:nvSpPr>
        <p:spPr>
          <a:xfrm>
            <a:off x="6622542" y="2121408"/>
            <a:ext cx="1616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low-cost model, no frontier spend</a:t>
            </a:r>
            <a:endParaRPr/>
          </a:p>
        </p:txBody>
      </p:sp>
      <p:sp>
        <p:nvSpPr>
          <p:cNvPr id="648" name="Google Shape;648;p57"/>
          <p:cNvSpPr/>
          <p:nvPr/>
        </p:nvSpPr>
        <p:spPr>
          <a:xfrm>
            <a:off x="411480" y="2743200"/>
            <a:ext cx="7955400" cy="567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57"/>
          <p:cNvSpPr/>
          <p:nvPr/>
        </p:nvSpPr>
        <p:spPr>
          <a:xfrm>
            <a:off x="411480" y="2743200"/>
            <a:ext cx="82200" cy="567000"/>
          </a:xfrm>
          <a:prstGeom prst="rect">
            <a:avLst/>
          </a:prstGeom>
          <a:solidFill>
            <a:srgbClr val="542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57"/>
          <p:cNvSpPr txBox="1"/>
          <p:nvPr/>
        </p:nvSpPr>
        <p:spPr>
          <a:xfrm>
            <a:off x="649224" y="2834640"/>
            <a:ext cx="2057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Survey, drill, then act</a:t>
            </a:r>
            <a:endParaRPr/>
          </a:p>
        </p:txBody>
      </p:sp>
      <p:sp>
        <p:nvSpPr>
          <p:cNvPr id="651" name="Google Shape;651;p57"/>
          <p:cNvSpPr txBox="1"/>
          <p:nvPr/>
        </p:nvSpPr>
        <p:spPr>
          <a:xfrm>
            <a:off x="2816352" y="2834640"/>
            <a:ext cx="5422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list_customers surveys cheaply; 2–3 detail calls drill in; queue_outreach is the one call that writes anything, with its own reflection attached.</a:t>
            </a:r>
            <a:endParaRPr/>
          </a:p>
        </p:txBody>
      </p:sp>
      <p:sp>
        <p:nvSpPr>
          <p:cNvPr id="652" name="Google Shape;652;p57"/>
          <p:cNvSpPr/>
          <p:nvPr/>
        </p:nvSpPr>
        <p:spPr>
          <a:xfrm>
            <a:off x="411480" y="3401568"/>
            <a:ext cx="7955400" cy="567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57"/>
          <p:cNvSpPr/>
          <p:nvPr/>
        </p:nvSpPr>
        <p:spPr>
          <a:xfrm>
            <a:off x="411480" y="3401568"/>
            <a:ext cx="82200" cy="567000"/>
          </a:xfrm>
          <a:prstGeom prst="rect">
            <a:avLst/>
          </a:prstGeom>
          <a:solidFill>
            <a:srgbClr val="158A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57"/>
          <p:cNvSpPr txBox="1"/>
          <p:nvPr/>
        </p:nvSpPr>
        <p:spPr>
          <a:xfrm>
            <a:off x="649224" y="3493008"/>
            <a:ext cx="2057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No redundant payloads</a:t>
            </a:r>
            <a:endParaRPr/>
          </a:p>
        </p:txBody>
      </p:sp>
      <p:sp>
        <p:nvSpPr>
          <p:cNvPr id="655" name="Google Shape;655;p57"/>
          <p:cNvSpPr txBox="1"/>
          <p:nvPr/>
        </p:nvSpPr>
        <p:spPr>
          <a:xfrm>
            <a:off x="2816352" y="3493008"/>
            <a:ext cx="5422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News extraction reads headlines only — never article bodies — and pseudonymisation replaces names with short tokens.</a:t>
            </a:r>
            <a:endParaRPr/>
          </a:p>
        </p:txBody>
      </p:sp>
      <p:sp>
        <p:nvSpPr>
          <p:cNvPr id="656" name="Google Shape;656;p57"/>
          <p:cNvSpPr/>
          <p:nvPr/>
        </p:nvSpPr>
        <p:spPr>
          <a:xfrm>
            <a:off x="411480" y="4059935"/>
            <a:ext cx="7955400" cy="567000"/>
          </a:xfrm>
          <a:prstGeom prst="rect">
            <a:avLst/>
          </a:prstGeom>
          <a:solidFill>
            <a:srgbClr val="F7F5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57"/>
          <p:cNvSpPr/>
          <p:nvPr/>
        </p:nvSpPr>
        <p:spPr>
          <a:xfrm>
            <a:off x="411480" y="4059935"/>
            <a:ext cx="82200" cy="567000"/>
          </a:xfrm>
          <a:prstGeom prst="rect">
            <a:avLst/>
          </a:prstGeom>
          <a:solidFill>
            <a:srgbClr val="D98E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57"/>
          <p:cNvSpPr txBox="1"/>
          <p:nvPr/>
        </p:nvSpPr>
        <p:spPr>
          <a:xfrm>
            <a:off x="649224" y="4151375"/>
            <a:ext cx="2057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00" u="none" cap="none" strike="noStrike">
                <a:solidFill>
                  <a:srgbClr val="1C153E"/>
                </a:solidFill>
                <a:latin typeface="Calibri"/>
                <a:ea typeface="Calibri"/>
                <a:cs typeface="Calibri"/>
                <a:sym typeface="Calibri"/>
              </a:rPr>
              <a:t>Specific instructions</a:t>
            </a:r>
            <a:endParaRPr/>
          </a:p>
        </p:txBody>
      </p:sp>
      <p:sp>
        <p:nvSpPr>
          <p:cNvPr id="659" name="Google Shape;659;p57"/>
          <p:cNvSpPr txBox="1"/>
          <p:nvPr/>
        </p:nvSpPr>
        <p:spPr>
          <a:xfrm>
            <a:off x="2816352" y="4151375"/>
            <a:ext cx="5422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1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The same survey-then-drill rule ships in the MCP server, so connected clients are efficient too.</a:t>
            </a:r>
            <a:endParaRPr/>
          </a:p>
        </p:txBody>
      </p:sp>
      <p:sp>
        <p:nvSpPr>
          <p:cNvPr id="660" name="Google Shape;660;p57"/>
          <p:cNvSpPr txBox="1"/>
          <p:nvPr/>
        </p:nvSpPr>
        <p:spPr>
          <a:xfrm>
            <a:off x="411480" y="4645152"/>
            <a:ext cx="795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50" u="none" cap="none" strike="noStrike">
                <a:solidFill>
                  <a:srgbClr val="5D5A72"/>
                </a:solidFill>
                <a:latin typeface="Calibri"/>
                <a:ea typeface="Calibri"/>
                <a:cs typeface="Calibri"/>
                <a:sym typeface="Calibri"/>
              </a:rPr>
              <a:t>Measured from the /agent/chat response, which reports token usage per answer.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